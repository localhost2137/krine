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893fa8b5644ccb" /><Relationship Type="http://schemas.openxmlformats.org/officeDocument/2006/relationships/extended-properties" Target="/docProps/app.xml" Id="Rc98954d3383c4978" /><Relationship Type="http://schemas.openxmlformats.org/officeDocument/2006/relationships/officeDocument" Target="/ppt/presentation.xml" Id="R851bd1507962431e" /></Relationships>
</file>

<file path=ppt/presentation.xml><?xml version="1.0" encoding="utf-8"?>
<p:presentation xmlns:p="http://schemas.openxmlformats.org/presentationml/2006/main">
  <p:sldMasterIdLst>
    <p:sldMasterId xmlns:r="http://schemas.openxmlformats.org/officeDocument/2006/relationships" id="2147483648" r:id="R027962b3307047ee"/>
  </p:sldMasterIdLst>
  <p:notesMasterIdLst>
    <p:notesMasterId xmlns:r="http://schemas.openxmlformats.org/officeDocument/2006/relationships" r:id="Re13a18a9bc6446cb"/>
  </p:notesMasterIdLst>
  <p:sldIdLst>
    <p:sldId xmlns:r="http://schemas.openxmlformats.org/officeDocument/2006/relationships" id="256" r:id="R329063ae71fa40b4"/>
    <p:sldId xmlns:r="http://schemas.openxmlformats.org/officeDocument/2006/relationships" id="257" r:id="R4d416cc5975243cb"/>
    <p:sldId xmlns:r="http://schemas.openxmlformats.org/officeDocument/2006/relationships" id="258" r:id="Re11e7a7256b1442f"/>
    <p:sldId xmlns:r="http://schemas.openxmlformats.org/officeDocument/2006/relationships" id="259" r:id="R56440642822b45bd"/>
    <p:sldId xmlns:r="http://schemas.openxmlformats.org/officeDocument/2006/relationships" id="260" r:id="R96a0bf57cfc547fb"/>
    <p:sldId xmlns:r="http://schemas.openxmlformats.org/officeDocument/2006/relationships" id="261" r:id="Rfe1f6046f04a4014"/>
    <p:sldId xmlns:r="http://schemas.openxmlformats.org/officeDocument/2006/relationships" id="262" r:id="Rd68519dbd038402c"/>
    <p:sldId xmlns:r="http://schemas.openxmlformats.org/officeDocument/2006/relationships" id="263" r:id="R1d941c01573946f2"/>
    <p:sldId xmlns:r="http://schemas.openxmlformats.org/officeDocument/2006/relationships" id="264" r:id="Re15a39ada29647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fd947bbf5d413a" /><Relationship Type="http://schemas.openxmlformats.org/officeDocument/2006/relationships/slideMaster" Target="/ppt/slideMasters/slideMaster1.xml" Id="R027962b3307047ee" /><Relationship Type="http://schemas.openxmlformats.org/officeDocument/2006/relationships/notesMaster" Target="/ppt/notesMasters/notesMaster1.xml" Id="Re13a18a9bc6446cb" /><Relationship Type="http://schemas.openxmlformats.org/officeDocument/2006/relationships/presProps" Target="/ppt/presProps.xml" Id="Rb6196bb88b0641df" /><Relationship Type="http://schemas.openxmlformats.org/officeDocument/2006/relationships/tableStyles" Target="/ppt/tableStyles.xml" Id="Rbe96390511364932" /><Relationship Type="http://schemas.openxmlformats.org/officeDocument/2006/relationships/slide" Target="/ppt/slides/slide1.xml" Id="R329063ae71fa40b4" /><Relationship Type="http://schemas.openxmlformats.org/officeDocument/2006/relationships/slide" Target="/ppt/slides/slide2.xml" Id="R4d416cc5975243cb" /><Relationship Type="http://schemas.openxmlformats.org/officeDocument/2006/relationships/slide" Target="/ppt/slides/slide3.xml" Id="Re11e7a7256b1442f" /><Relationship Type="http://schemas.openxmlformats.org/officeDocument/2006/relationships/slide" Target="/ppt/slides/slide4.xml" Id="R56440642822b45bd" /><Relationship Type="http://schemas.openxmlformats.org/officeDocument/2006/relationships/slide" Target="/ppt/slides/slide5.xml" Id="R96a0bf57cfc547fb" /><Relationship Type="http://schemas.openxmlformats.org/officeDocument/2006/relationships/slide" Target="/ppt/slides/slide6.xml" Id="Rfe1f6046f04a4014" /><Relationship Type="http://schemas.openxmlformats.org/officeDocument/2006/relationships/slide" Target="/ppt/slides/slide7.xml" Id="Rd68519dbd038402c" /><Relationship Type="http://schemas.openxmlformats.org/officeDocument/2006/relationships/slide" Target="/ppt/slides/slide8.xml" Id="R1d941c01573946f2" /><Relationship Type="http://schemas.openxmlformats.org/officeDocument/2006/relationships/slide" Target="/ppt/slides/slide9.xml" Id="Re15a39ada29647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aa7fe5da4a4e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4dc26992734c4e" /><Relationship Type="http://schemas.openxmlformats.org/officeDocument/2006/relationships/notesMaster" Target="/ppt/notesMasters/notesMaster1.xml" Id="Rec728f33f38945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61c600c0854c42" /><Relationship Type="http://schemas.openxmlformats.org/officeDocument/2006/relationships/notesMaster" Target="/ppt/notesMasters/notesMaster1.xml" Id="Re2003e82ee9949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b19beefe5a4592" /><Relationship Type="http://schemas.openxmlformats.org/officeDocument/2006/relationships/notesMaster" Target="/ppt/notesMasters/notesMaster1.xml" Id="R4594ca3cbfd34a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b99542d2644268" /><Relationship Type="http://schemas.openxmlformats.org/officeDocument/2006/relationships/notesMaster" Target="/ppt/notesMasters/notesMaster1.xml" Id="Rd532bcd170bc43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1b76d02dd64835" /><Relationship Type="http://schemas.openxmlformats.org/officeDocument/2006/relationships/notesMaster" Target="/ppt/notesMasters/notesMaster1.xml" Id="Rd028aec5b13d4e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0666b25ab74954" /><Relationship Type="http://schemas.openxmlformats.org/officeDocument/2006/relationships/notesMaster" Target="/ppt/notesMasters/notesMaster1.xml" Id="R866b07f8237d49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c43862b4504947" /><Relationship Type="http://schemas.openxmlformats.org/officeDocument/2006/relationships/notesMaster" Target="/ppt/notesMasters/notesMaster1.xml" Id="Rf76b4e2fc96348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c0dbefcbb04ac5" /><Relationship Type="http://schemas.openxmlformats.org/officeDocument/2006/relationships/notesMaster" Target="/ppt/notesMasters/notesMaster1.xml" Id="R544008bd23554f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769eaa30ee47df" /><Relationship Type="http://schemas.openxmlformats.org/officeDocument/2006/relationships/notesMaster" Target="/ppt/notesMasters/notesMaster1.xml" Id="Rd80d812ed3d34d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Krine is an open-source (ISC), self-hosted trust decision engine. The backend asks whether a named application action should be allowed. Krine combines backend events, browser evidence and optional provider observations, evaluates a versioned policy and records its reasons. Screenshot: the running local dashboard with a 28-day generated dataset, 10,000 synthetic decisions and 49,828 synthetic events, plus seven pre-existing local fixtures. Daily and weekly patterns, returning sessions, abuse bursts, provider failures and verification outcomes are generated. This is illustrative activity, not customer traction or a performance benchmark. Source: crates/krine-demo, .demo/pitch-history/manifest.json. Competition rules: https://mudnibfuppwadjkynscc.supabase.co/storage/v1/object/public/task-files/6f0f5e2e-246f-4078-a3f7-1aad9152e9f0/files/312cc8e5-48a3-4c4b-a9a1-9b28861995e9.pdf, maximum ten slides in PDF; detailed task is announced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positioning, not a claim that all competitors lack these capabilities. FingerprintJS's open-source library generates a hashed browser identifier; a complete application decision system requires additional context, integration, policy and retained evidence. Fingerprint's commercial platform combines browser collection with server-side processing and exposes regional managed APIs. A regional API is not the same as operating the decision system and its stores oneself. Self-hosted security products exist, including CrowdSec. Krine's intended distinction is an integrated, customer-operated application decision layer with provider-independent metric contracts. Sources: https://github.com/fingerprintjs/fingerprintjs ; https://docs.fingerprint.com/reference/server-api ; https://docs.crowdsec.net/docs/configuration/crowdsec_configuration/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owns authentication, business authorization and execution of the action. It emits authoritative backend events and asks Krine for a decision before executing a protected action. Browser observations are untrusted evidence, never proof of identity. TypeScript browser and server SDKs exist; the core is a Rust service. A check is an application-defined action name, not a built-in security feature. This example is a public incident-report form relevant to a reporting portal; it does not claim to validate the truth of a report. A CAPTCHA outcome is fulfilled by the application displaying the configured provider widget and continuing the pinned operation. Sources: docs/product/vision.md; docs/concepts/domain-model.md; packages/server/src/index.ts; packages/browser/src/turnstile.ts.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the local workflow editor and new can_submit_public_form draft. No backend authorization/input condition is present. Policy: ip.risk v1 &gt;= 0.65 triggers CHALLENGE; below threshold ALLOW; unknown also CHALLENGE; on_verified ALLOW; failed, expired or unavailable verification DENY. The threshold is illustrative, not a calibrated production recommendation. IP risk is normalized to 0..1. Diagram connector routing has been corrected to avoid measured node rectangles. This example is deliberately simple enough to read without prior product knowledge. The editable graph also supports multiple conditions, explicit unknown paths, branch convergence and verification continuation. Draft is not published and no provider call occurs in the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workflow Test path UI with ip.risk=0.82 and simulated verification=passed. The real Rust evaluator returns ALLOW and highlights the traversed path. A second UI test with the same risk and simulated verification=failed returned DENY. These tests do not call external providers, publish a policy or record live decisions. Missing IP risk follows the explicit unknown CAPTCHA path. Passing the configured verification continues the same protected operation in the implemented runtime. Sources: apps/dashboard/src/workflow/TestPanel.tsx; crates/krine-core/src/workflow.rs; crates/krine-server/src/admin.rs; screenshots/captcha-test.png and captcha-failed.png.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captured decision from the generated activity dataset. All data in this screenshot is synthetic and belongs to the local demonstration. Krine preserves the evidence and policy used at evaluation time; current metrics do not silently replace the historical snapshot. An operator can follow linked users, clients and sessions and inspect policy versions. This supports diagnosing unexpected blocks and distinguishing a matched condition from unavailable evidence. Sources: screenshot/evidence-seeded.png; crates/krine-demo; apps/dashboard/src/CapturedReason.tsx; docs/engineering/storage.md.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core operation has no Krine-hosted cloud dependency. Customer operates Rust engine, dashboard, PostgreSQL, ClickHouse and Valkey. PostgreSQL stores configuration and durable operational state, ClickHouse analytical history, Valkey realtime/short-lived state. Ownership is operational and architectural: choose infrastructure/region, manage database access, retention and backups. This is not a legal claim of automatic regulatory compliance or universal legal ownership of third-party data. Optional integrations send the data their service requires. proxycheck receives IP queries; Turnstile uses its browser service and server-side verification. A local deployment using external services is not air-gapped. Sources: docs/engineering/storage.md; docs/engineering/protocol.md; docs/concepts/providers.md;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adapters: proxycheck v3 IP intelligence and Cloudflare Turnstile verification. IP intelligence normalizes risk to 0..1 and exposes proxy/country evidence with explicit status and provenance. Policies depend on versioned Krine metrics rather than vendor-specific JSON. Replacing an adapter requires compatible semantics and testing; normalized scores are not automatically interchangeable. Broader provider coverage is product direction, not an already shipped catalog. Future priorities include additional IP/CAPTCHA vendors, local intelligence sources and email/device/custom signals. Sources: crates/krine-server/src/provider_http.rs; docs/concepts/providers.md; docs/decisions/0007-mvp-contract-defaults.md. Live providers were not called in these presentation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positioning and next-step proposal; no measured ROI, market size or customer traction is claimed. Initial audience: platform/security teams needing application-specific abuse decisions and control of deployment/evidence, including sensitive public-service portals and businesses with data residency constraints. Commercial value hypothesis: reduce duplicated integration/policy work, preserve investigation history and enable provider replacement. Proposed monetization is paid deployment, support and maintained integrations around the ISC open-source core. Next step: pilot one real application, validate chosen live providers and measure integration effort, policy change time, false denials and investigation time. Production rollout additionally requires named operators/roles/admin audit, security review and target-environment load/recovery validation; these are not completed by creating this deck. Repository destination supplied by owner: localhost2137/krine, planned GitHub location https://github.com/localhost2137/krine; relocation is not asserted to be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cc5ebb062b46e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507147ef0c243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c8754937aab41d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a5c6a0e0d0475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75da238aa342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2bd72cadea54d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FC710F-09DC-46C3-A301-70379336286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885C539-BD9E-4691-8EE5-729BB0D442C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4A1808D-DF56-4272-8A83-8CFEF0FAEAC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06092B-E782-4B84-8DA8-0CE7200C23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D1C9740-6C63-49A3-971C-A5F62A940BD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341911-D744-412E-B2CA-D2B10E5695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8D60EE-FC77-4484-931C-D5E09A2B30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3DE9B55-8CF6-4BBB-9DA3-63C103D9DED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77ED98-A047-44EA-8C03-3202F9C55A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ACD91E-AD2F-4E90-B902-891988D8E3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e739782b894b0e" /><Relationship Type="http://schemas.openxmlformats.org/officeDocument/2006/relationships/slideLayout" Target="/ppt/slideLayouts/slideLayout1.xml" Id="R21a94abd003c4850" /><Relationship Type="http://schemas.openxmlformats.org/officeDocument/2006/relationships/slideLayout" Target="/ppt/slideLayouts/slideLayout2.xml" Id="Ra868a7a556a04d6d" /><Relationship Type="http://schemas.openxmlformats.org/officeDocument/2006/relationships/slideLayout" Target="/ppt/slideLayouts/slideLayout3.xml" Id="R4c48fc25933649f6" /><Relationship Type="http://schemas.openxmlformats.org/officeDocument/2006/relationships/slideLayout" Target="/ppt/slideLayouts/slideLayout4.xml" Id="R1c0b01f964df46fe" /><Relationship Type="http://schemas.openxmlformats.org/officeDocument/2006/relationships/slideLayout" Target="/ppt/slideLayouts/slideLayout5.xml" Id="Rf7b6023c3d254996" /><Relationship Type="http://schemas.openxmlformats.org/officeDocument/2006/relationships/slideLayout" Target="/ppt/slideLayouts/slideLayout6.xml" Id="Rc1f14840cd2d475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a94abd003c4850"/>
    <p:sldLayoutId xmlns:r="http://schemas.openxmlformats.org/officeDocument/2006/relationships" id="2147483650" r:id="Ra868a7a556a04d6d"/>
    <p:sldLayoutId xmlns:r="http://schemas.openxmlformats.org/officeDocument/2006/relationships" id="2147483651" r:id="R4c48fc25933649f6"/>
    <p:sldLayoutId xmlns:r="http://schemas.openxmlformats.org/officeDocument/2006/relationships" id="2147483652" r:id="R1c0b01f964df46fe"/>
    <p:sldLayoutId xmlns:r="http://schemas.openxmlformats.org/officeDocument/2006/relationships" id="2147483653" r:id="Rf7b6023c3d254996"/>
    <p:sldLayoutId xmlns:r="http://schemas.openxmlformats.org/officeDocument/2006/relationships" id="2147483654" r:id="Rc1f14840cd2d47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648d5e885e84a12" /><Relationship Type="http://schemas.openxmlformats.org/officeDocument/2006/relationships/image" Target="/ppt/media/image.jpeg" Id="R27beb045d83a4ee9" /><Relationship Type="http://schemas.openxmlformats.org/officeDocument/2006/relationships/notesSlide" Target="/ppt/notesSlides/notesSlide1.xml" Id="R0ed431882b864c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f33714cfde44703" /><Relationship Type="http://schemas.openxmlformats.org/officeDocument/2006/relationships/notesSlide" Target="/ppt/notesSlides/notesSlide2.xml" Id="R1c05141723bf48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61c1a0e8bec4a29" /><Relationship Type="http://schemas.openxmlformats.org/officeDocument/2006/relationships/notesSlide" Target="/ppt/notesSlides/notesSlide3.xml" Id="R6612e1f9514540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635373fa63b432c" /><Relationship Type="http://schemas.openxmlformats.org/officeDocument/2006/relationships/image" Target="/ppt/media/image2.jpeg" Id="R51f9902bd1584b5a" /><Relationship Type="http://schemas.openxmlformats.org/officeDocument/2006/relationships/notesSlide" Target="/ppt/notesSlides/notesSlide4.xml" Id="R4e2562c12aab47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e98e078ee234c17" /><Relationship Type="http://schemas.openxmlformats.org/officeDocument/2006/relationships/image" Target="/ppt/media/image3.jpeg" Id="R0d3c7b4129ea4746" /><Relationship Type="http://schemas.openxmlformats.org/officeDocument/2006/relationships/notesSlide" Target="/ppt/notesSlides/notesSlide5.xml" Id="R10d9e0a09d5942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56af168a2f04054" /><Relationship Type="http://schemas.openxmlformats.org/officeDocument/2006/relationships/image" Target="/ppt/media/image4.jpeg" Id="R45e09863965a44d2" /><Relationship Type="http://schemas.openxmlformats.org/officeDocument/2006/relationships/notesSlide" Target="/ppt/notesSlides/notesSlide6.xml" Id="R6c8b76ae17ac4f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d888e68e25c4fca" /><Relationship Type="http://schemas.openxmlformats.org/officeDocument/2006/relationships/notesSlide" Target="/ppt/notesSlides/notesSlide7.xml" Id="R4ab86b2a281d4a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961d8ca39124dc6" /><Relationship Type="http://schemas.openxmlformats.org/officeDocument/2006/relationships/notesSlide" Target="/ppt/notesSlides/notesSlide8.xml" Id="R2ff6e49318754b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4172aad06ea4910" /><Relationship Type="http://schemas.openxmlformats.org/officeDocument/2006/relationships/notesSlide" Target="/ppt/notesSlides/notesSlide9.xml" Id="Rd2fe3e66ac854cf4" /></Relationships>
</file>

<file path=ppt/slides/slide1.xml><?xml version="1.0" encoding="utf-8"?>
<p:sld xmlns:p="http://schemas.openxmlformats.org/presentationml/2006/main">
  <p:cSld>
    <p:bg>
      <p:bgPr>
        <a:solidFill xmlns:a="http://schemas.openxmlformats.org/drawingml/2006/main">
          <a:srgbClr val="10101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CDACB0-0288-4998-B8AB-2098E1772C04}"/>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ABADB6"/>
                </a:solidFill>
                <a:latin typeface="Arial"/>
                <a:ea typeface="Arial"/>
                <a:cs typeface="Arial"/>
              </a:defRPr>
            </a:defPPr>
          </a:lstStyle>
          <a:p xmlns:a="http://schemas.openxmlformats.org/drawingml/2006/main">
            <a:pPr>
              <a:defRPr sz="1200" b="0">
                <a:solidFill>
                  <a:srgbClr val="ABADB6"/>
                </a:solidFill>
                <a:latin typeface="Arial"/>
                <a:ea typeface="Arial"/>
                <a:cs typeface="Arial"/>
              </a:defRPr>
            </a:pPr>
            <a:r>
              <a:rPr sz="1200" b="0">
                <a:solidFill>
                  <a:srgbClr val="ABADB6"/>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0AB5343E-405B-4CCB-842E-DD9028F1F32D}"/>
              </a:ext>
            </a:extLst>
          </p:cNvPr>
          <p:cNvSpPr>
            <a:spLocks xmlns:a="http://schemas.openxmlformats.org/drawingml/2006/main" noGrp="1"/>
          </p:cNvSpPr>
          <p:nvPr/>
        </p:nvSpPr>
        <p:spPr>
          <a:xfrm xmlns:a="http://schemas.openxmlformats.org/drawingml/2006/main">
            <a:off x="533400" y="666750"/>
            <a:ext cx="314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700" b="1">
                <a:solidFill>
                  <a:srgbClr val="EEEEF0"/>
                </a:solidFill>
                <a:latin typeface="Arial"/>
                <a:ea typeface="Arial"/>
                <a:cs typeface="Arial"/>
              </a:defRPr>
            </a:defPPr>
          </a:lstStyle>
          <a:p xmlns:a="http://schemas.openxmlformats.org/drawingml/2006/main">
            <a:pPr>
              <a:defRPr sz="5700" b="1">
                <a:solidFill>
                  <a:srgbClr val="EEEEF0"/>
                </a:solidFill>
                <a:latin typeface="Arial"/>
                <a:ea typeface="Arial"/>
                <a:cs typeface="Arial"/>
              </a:defRPr>
            </a:pPr>
            <a:r>
              <a:rPr sz="5700" b="1">
                <a:solidFill>
                  <a:srgbClr val="EEEEF0"/>
                </a:solidFill>
                <a:latin typeface="Arial"/>
                <a:ea typeface="Arial"/>
                <a:cs typeface="Arial"/>
              </a:rPr>
              <a:t>Krine</a:t>
            </a:r>
          </a:p>
        </p:txBody>
      </p:sp>
      <p:sp>
        <p:nvSpPr>
          <p:cNvPr id="3" name="">
            <a:extLst xmlns:a="http://schemas.openxmlformats.org/drawingml/2006/main">
              <a:ext uri="{FF2B5EF4-FFF2-40B4-BE49-F238E27FC236}">
                <a16:creationId xmlns:a16="http://schemas.microsoft.com/office/drawing/2014/main" id="{1BFB3DDB-EEB2-422D-A95C-A04CC13C49B1}"/>
              </a:ext>
            </a:extLst>
          </p:cNvPr>
          <p:cNvSpPr>
            <a:spLocks xmlns:a="http://schemas.openxmlformats.org/drawingml/2006/main" noGrp="1"/>
          </p:cNvSpPr>
          <p:nvPr/>
        </p:nvSpPr>
        <p:spPr>
          <a:xfrm xmlns:a="http://schemas.openxmlformats.org/drawingml/2006/main">
            <a:off x="571500" y="1771650"/>
            <a:ext cx="30670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A5A4FF"/>
                </a:solidFill>
                <a:latin typeface="Arial"/>
                <a:ea typeface="Arial"/>
                <a:cs typeface="Arial"/>
              </a:defRPr>
            </a:defPPr>
          </a:lstStyle>
          <a:p xmlns:a="http://schemas.openxmlformats.org/drawingml/2006/main">
            <a:pPr>
              <a:defRPr sz="2550" b="1">
                <a:solidFill>
                  <a:srgbClr val="A5A4FF"/>
                </a:solidFill>
                <a:latin typeface="Arial"/>
                <a:ea typeface="Arial"/>
                <a:cs typeface="Arial"/>
              </a:defRPr>
            </a:pPr>
            <a:r>
              <a:rPr sz="2550" b="1">
                <a:solidFill>
                  <a:srgbClr val="A5A4FF"/>
                </a:solidFill>
                <a:latin typeface="Arial"/>
                <a:ea typeface="Arial"/>
                <a:cs typeface="Arial"/>
              </a:rPr>
              <a:t>Self-hosted trust</a:t>
            </a:r>
          </a:p>
          <a:p xmlns:a="http://schemas.openxmlformats.org/drawingml/2006/main">
            <a:pPr>
              <a:defRPr sz="2550" b="1">
                <a:solidFill>
                  <a:srgbClr val="A5A4FF"/>
                </a:solidFill>
                <a:latin typeface="Arial"/>
                <a:ea typeface="Arial"/>
                <a:cs typeface="Arial"/>
              </a:defRPr>
            </a:pPr>
            <a:r>
              <a:rPr sz="2550" b="1">
                <a:solidFill>
                  <a:srgbClr val="A5A4FF"/>
                </a:solidFill>
                <a:latin typeface="Arial"/>
                <a:ea typeface="Arial"/>
                <a:cs typeface="Arial"/>
              </a:rPr>
              <a:t>decisions for</a:t>
            </a:r>
          </a:p>
          <a:p xmlns:a="http://schemas.openxmlformats.org/drawingml/2006/main">
            <a:pPr>
              <a:defRPr sz="2550" b="1">
                <a:solidFill>
                  <a:srgbClr val="A5A4FF"/>
                </a:solidFill>
                <a:latin typeface="Arial"/>
                <a:ea typeface="Arial"/>
                <a:cs typeface="Arial"/>
              </a:defRPr>
            </a:pPr>
            <a:r>
              <a:rPr sz="2550" b="1">
                <a:solidFill>
                  <a:srgbClr val="A5A4FF"/>
                </a:solidFill>
                <a:latin typeface="Arial"/>
                <a:ea typeface="Arial"/>
                <a:cs typeface="Arial"/>
              </a:rPr>
              <a:t>your application</a:t>
            </a:r>
          </a:p>
        </p:txBody>
      </p:sp>
      <p:sp>
        <p:nvSpPr>
          <p:cNvPr id="4" name="">
            <a:extLst xmlns:a="http://schemas.openxmlformats.org/drawingml/2006/main">
              <a:ext uri="{FF2B5EF4-FFF2-40B4-BE49-F238E27FC236}">
                <a16:creationId xmlns:a16="http://schemas.microsoft.com/office/drawing/2014/main" id="{96784554-750D-4C3E-B98F-358D091B6196}"/>
              </a:ext>
            </a:extLst>
          </p:cNvPr>
          <p:cNvSpPr>
            <a:spLocks xmlns:a="http://schemas.openxmlformats.org/drawingml/2006/main" noGrp="1"/>
          </p:cNvSpPr>
          <p:nvPr/>
        </p:nvSpPr>
        <p:spPr>
          <a:xfrm xmlns:a="http://schemas.openxmlformats.org/drawingml/2006/main">
            <a:off x="571500" y="3638550"/>
            <a:ext cx="31432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EEEEF0"/>
                </a:solidFill>
                <a:latin typeface="Arial"/>
                <a:ea typeface="Arial"/>
                <a:cs typeface="Arial"/>
              </a:defRPr>
            </a:defPPr>
          </a:lstStyle>
          <a:p xmlns:a="http://schemas.openxmlformats.org/drawingml/2006/main">
            <a:pPr>
              <a:defRPr sz="1950" b="0">
                <a:solidFill>
                  <a:srgbClr val="EEEEF0"/>
                </a:solidFill>
                <a:latin typeface="Arial"/>
                <a:ea typeface="Arial"/>
                <a:cs typeface="Arial"/>
              </a:defRPr>
            </a:pPr>
            <a:r>
              <a:rPr sz="1950" b="0">
                <a:solidFill>
                  <a:srgbClr val="EEEEF0"/>
                </a:solidFill>
                <a:latin typeface="Arial"/>
                <a:ea typeface="Arial"/>
                <a:cs typeface="Arial"/>
              </a:rPr>
              <a:t>Combine IP risk, activity and other evidence in one visual policy. Return Allow, Deny or a CAPTCHA request.</a:t>
            </a:r>
          </a:p>
        </p:txBody>
      </p:sp>
      <p:sp>
        <p:nvSpPr>
          <p:cNvPr id="5" name="">
            <a:extLst xmlns:a="http://schemas.openxmlformats.org/drawingml/2006/main">
              <a:ext uri="{FF2B5EF4-FFF2-40B4-BE49-F238E27FC236}">
                <a16:creationId xmlns:a16="http://schemas.microsoft.com/office/drawing/2014/main" id="{34ABA0C1-366E-4E44-B6CC-68CB23A859CB}"/>
              </a:ext>
            </a:extLst>
          </p:cNvPr>
          <p:cNvSpPr>
            <a:spLocks xmlns:a="http://schemas.openxmlformats.org/drawingml/2006/main" noGrp="1"/>
          </p:cNvSpPr>
          <p:nvPr/>
        </p:nvSpPr>
        <p:spPr>
          <a:xfrm xmlns:a="http://schemas.openxmlformats.org/drawingml/2006/main">
            <a:off x="571500" y="5753100"/>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ABADB6"/>
                </a:solidFill>
                <a:latin typeface="Arial"/>
                <a:ea typeface="Arial"/>
                <a:cs typeface="Arial"/>
              </a:defRPr>
            </a:defPPr>
          </a:lstStyle>
          <a:p xmlns:a="http://schemas.openxmlformats.org/drawingml/2006/main">
            <a:pPr>
              <a:defRPr sz="1500" b="0">
                <a:solidFill>
                  <a:srgbClr val="ABADB6"/>
                </a:solidFill>
                <a:latin typeface="Arial"/>
                <a:ea typeface="Arial"/>
                <a:cs typeface="Arial"/>
              </a:defRPr>
            </a:pPr>
            <a:r>
              <a:rPr sz="1500" b="0">
                <a:solidFill>
                  <a:srgbClr val="ABADB6"/>
                </a:solidFill>
                <a:latin typeface="Arial"/>
                <a:ea typeface="Arial"/>
                <a:cs typeface="Arial"/>
              </a:rPr>
              <a:t>Open source · Customer-operated</a:t>
            </a:r>
          </a:p>
        </p:txBody>
      </p:sp>
      <p:pic>
        <p:nvPicPr>
          <p:cNvPr id="6" name="">
            <a:extLst xmlns:a="http://schemas.openxmlformats.org/drawingml/2006/main">
              <a:ext uri="{FF2B5EF4-FFF2-40B4-BE49-F238E27FC236}">
                <a16:creationId xmlns:a16="http://schemas.microsoft.com/office/drawing/2014/main" id="{A3669138-40EF-4D50-8867-201D8E40AAD5}"/>
              </a:ext>
            </a:extLst>
          </p:cNvPr>
          <p:cNvPicPr>
            <a:picLocks xmlns:a="http://schemas.openxmlformats.org/drawingml/2006/main" noChangeAspect="1"/>
          </p:cNvPicPr>
          <p:nvPr/>
        </p:nvPicPr>
        <p:blipFill>
          <a:blip xmlns:r="http://schemas.openxmlformats.org/officeDocument/2006/relationships" xmlns:a="http://schemas.openxmlformats.org/drawingml/2006/main" r:embed="R27beb045d83a4ee9"/>
          <a:stretch xmlns:a="http://schemas.openxmlformats.org/drawingml/2006/main"/>
        </p:blipFill>
        <p:spPr>
          <a:xfrm xmlns:a="http://schemas.openxmlformats.org/drawingml/2006/main">
            <a:off x="3886200" y="585978"/>
            <a:ext cx="7829550" cy="532409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2A80474-BC06-44FF-A10C-732CD3412008}"/>
              </a:ext>
            </a:extLst>
          </p:cNvPr>
          <p:cNvSpPr>
            <a:spLocks xmlns:a="http://schemas.openxmlformats.org/drawingml/2006/main" noGrp="1"/>
          </p:cNvSpPr>
          <p:nvPr/>
        </p:nvSpPr>
        <p:spPr>
          <a:xfrm xmlns:a="http://schemas.openxmlformats.org/drawingml/2006/main">
            <a:off x="3990975" y="605790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ABADB6"/>
                </a:solidFill>
                <a:latin typeface="Arial"/>
                <a:ea typeface="Arial"/>
                <a:cs typeface="Arial"/>
              </a:defRPr>
            </a:defPPr>
          </a:lstStyle>
          <a:p xmlns:a="http://schemas.openxmlformats.org/drawingml/2006/main">
            <a:pPr>
              <a:defRPr sz="1350" b="0">
                <a:solidFill>
                  <a:srgbClr val="ABADB6"/>
                </a:solidFill>
                <a:latin typeface="Arial"/>
                <a:ea typeface="Arial"/>
                <a:cs typeface="Arial"/>
              </a:defRPr>
            </a:pPr>
            <a:r>
              <a:rPr sz="1350" b="0">
                <a:solidFill>
                  <a:srgbClr val="ABADB6"/>
                </a:solidFill>
                <a:latin typeface="Arial"/>
                <a:ea typeface="Arial"/>
                <a:cs typeface="Arial"/>
              </a:rPr>
              <a:t>Actual dashboard · 28 days of generated sample activity</a:t>
            </a:r>
          </a:p>
        </p:txBody>
      </p:sp>
    </p:spTree>
    <p:extLst>
      <p:ext uri="{BB962C8B-B14F-4D97-AF65-F5344CB8AC3E}">
        <p14:creationId xmlns:p14="http://schemas.microsoft.com/office/powerpoint/2010/main" val="1035316067"/>
      </p:ext>
    </p:extLst>
  </p:cSld>
</p:sld>
</file>

<file path=ppt/slides/slide2.xml><?xml version="1.0" encoding="utf-8"?>
<p:sld xmlns:p="http://schemas.openxmlformats.org/presentationml/2006/main">
  <p:cSld>
    <p:bg>
      <p:bgPr>
        <a:solidFill xmlns:a="http://schemas.openxmlformats.org/drawingml/2006/main">
          <a:srgbClr val="10101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1220DB-6CED-4F87-975D-5D689BCD77DF}"/>
              </a:ext>
            </a:extLst>
          </p:cNvPr>
          <p:cNvSpPr>
            <a:spLocks xmlns:a="http://schemas.openxmlformats.org/drawingml/2006/main" noGrp="1"/>
          </p:cNvSpPr>
          <p:nvPr/>
        </p:nvSpPr>
        <p:spPr>
          <a:xfrm xmlns:a="http://schemas.openxmlformats.org/drawingml/2006/main">
            <a:off x="609600" y="4000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EEEEF0"/>
                </a:solidFill>
                <a:latin typeface="Arial"/>
                <a:ea typeface="Arial"/>
                <a:cs typeface="Arial"/>
              </a:defRPr>
            </a:defPPr>
          </a:lstStyle>
          <a:p xmlns:a="http://schemas.openxmlformats.org/drawingml/2006/main">
            <a:pPr>
              <a:defRPr sz="3300" b="1">
                <a:solidFill>
                  <a:srgbClr val="EEEEF0"/>
                </a:solidFill>
                <a:latin typeface="Arial"/>
                <a:ea typeface="Arial"/>
                <a:cs typeface="Arial"/>
              </a:defRPr>
            </a:pPr>
            <a:r>
              <a:rPr sz="3300" b="1">
                <a:solidFill>
                  <a:srgbClr val="EEEEF0"/>
                </a:solidFill>
                <a:latin typeface="Arial"/>
                <a:ea typeface="Arial"/>
                <a:cs typeface="Arial"/>
              </a:rPr>
              <a:t>The gap between components and platforms</a:t>
            </a:r>
          </a:p>
        </p:txBody>
      </p:sp>
      <p:sp>
        <p:nvSpPr>
          <p:cNvPr id="2" name="">
            <a:extLst xmlns:a="http://schemas.openxmlformats.org/drawingml/2006/main">
              <a:ext uri="{FF2B5EF4-FFF2-40B4-BE49-F238E27FC236}">
                <a16:creationId xmlns:a16="http://schemas.microsoft.com/office/drawing/2014/main" id="{05CAC757-8CE8-4823-8DD8-C0B2453F1C4C}"/>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ABADB6"/>
                </a:solidFill>
                <a:latin typeface="Arial"/>
                <a:ea typeface="Arial"/>
                <a:cs typeface="Arial"/>
              </a:defRPr>
            </a:defPPr>
          </a:lstStyle>
          <a:p xmlns:a="http://schemas.openxmlformats.org/drawingml/2006/main">
            <a:pPr>
              <a:defRPr sz="1200" b="0">
                <a:solidFill>
                  <a:srgbClr val="ABADB6"/>
                </a:solidFill>
                <a:latin typeface="Arial"/>
                <a:ea typeface="Arial"/>
                <a:cs typeface="Arial"/>
              </a:defRPr>
            </a:pPr>
            <a:r>
              <a:rPr sz="1200" b="0">
                <a:solidFill>
                  <a:srgbClr val="ABADB6"/>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7EA8F13F-9273-40E7-B6B5-4BE0B576637E}"/>
              </a:ext>
            </a:extLst>
          </p:cNvPr>
          <p:cNvSpPr>
            <a:spLocks xmlns:a="http://schemas.openxmlformats.org/drawingml/2006/main" noGrp="1"/>
          </p:cNvSpPr>
          <p:nvPr/>
        </p:nvSpPr>
        <p:spPr>
          <a:xfrm xmlns:a="http://schemas.openxmlformats.org/drawingml/2006/main">
            <a:off x="609600" y="1466850"/>
            <a:ext cx="5191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A5A4FF"/>
                </a:solidFill>
                <a:latin typeface="Arial"/>
                <a:ea typeface="Arial"/>
                <a:cs typeface="Arial"/>
              </a:defRPr>
            </a:defPPr>
          </a:lstStyle>
          <a:p xmlns:a="http://schemas.openxmlformats.org/drawingml/2006/main">
            <a:pPr>
              <a:defRPr sz="2400" b="1">
                <a:solidFill>
                  <a:srgbClr val="A5A4FF"/>
                </a:solidFill>
                <a:latin typeface="Arial"/>
                <a:ea typeface="Arial"/>
                <a:cs typeface="Arial"/>
              </a:defRPr>
            </a:pPr>
            <a:r>
              <a:rPr sz="2400" b="1">
                <a:solidFill>
                  <a:srgbClr val="A5A4FF"/>
                </a:solidFill>
                <a:latin typeface="Arial"/>
                <a:ea typeface="Arial"/>
                <a:cs typeface="Arial"/>
              </a:rPr>
              <a:t>Open-source components</a:t>
            </a:r>
          </a:p>
        </p:txBody>
      </p:sp>
      <p:sp>
        <p:nvSpPr>
          <p:cNvPr id="4" name="">
            <a:extLst xmlns:a="http://schemas.openxmlformats.org/drawingml/2006/main">
              <a:ext uri="{FF2B5EF4-FFF2-40B4-BE49-F238E27FC236}">
                <a16:creationId xmlns:a16="http://schemas.microsoft.com/office/drawing/2014/main" id="{BE0015A2-A9AB-4AA8-8F92-8FCE17E91C4E}"/>
              </a:ext>
            </a:extLst>
          </p:cNvPr>
          <p:cNvSpPr>
            <a:spLocks xmlns:a="http://schemas.openxmlformats.org/drawingml/2006/main" noGrp="1"/>
          </p:cNvSpPr>
          <p:nvPr/>
        </p:nvSpPr>
        <p:spPr>
          <a:xfrm xmlns:a="http://schemas.openxmlformats.org/drawingml/2006/main">
            <a:off x="609600" y="2152650"/>
            <a:ext cx="50196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EEEEF0"/>
                </a:solidFill>
                <a:latin typeface="Arial"/>
                <a:ea typeface="Arial"/>
                <a:cs typeface="Arial"/>
              </a:defRPr>
            </a:defPPr>
          </a:lstStyle>
          <a:p xmlns:a="http://schemas.openxmlformats.org/drawingml/2006/main">
            <a:pPr>
              <a:defRPr sz="2175" b="0">
                <a:solidFill>
                  <a:srgbClr val="EEEEF0"/>
                </a:solidFill>
                <a:latin typeface="Arial"/>
                <a:ea typeface="Arial"/>
                <a:cs typeface="Arial"/>
              </a:defRPr>
            </a:pPr>
            <a:r>
              <a:rPr sz="2175" b="0">
                <a:solidFill>
                  <a:srgbClr val="EEEEF0"/>
                </a:solidFill>
                <a:latin typeface="Arial"/>
                <a:ea typeface="Arial"/>
                <a:cs typeface="Arial"/>
              </a:rPr>
              <a:t>A library such as FingerprintJS supplies a browser identifier. Teams still have to connect signals, write decision logic and build the investigation history.</a:t>
            </a:r>
          </a:p>
        </p:txBody>
      </p:sp>
      <p:sp>
        <p:nvSpPr>
          <p:cNvPr id="5" name="">
            <a:extLst xmlns:a="http://schemas.openxmlformats.org/drawingml/2006/main">
              <a:ext uri="{FF2B5EF4-FFF2-40B4-BE49-F238E27FC236}">
                <a16:creationId xmlns:a16="http://schemas.microsoft.com/office/drawing/2014/main" id="{83FB9714-F0FD-4F8B-9925-8F8CF406CFCE}"/>
              </a:ext>
            </a:extLst>
          </p:cNvPr>
          <p:cNvSpPr>
            <a:spLocks xmlns:a="http://schemas.openxmlformats.org/drawingml/2006/main" noGrp="1"/>
          </p:cNvSpPr>
          <p:nvPr/>
        </p:nvSpPr>
        <p:spPr>
          <a:xfrm xmlns:a="http://schemas.openxmlformats.org/drawingml/2006/main">
            <a:off x="6648450" y="1466850"/>
            <a:ext cx="4933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A5A4FF"/>
                </a:solidFill>
                <a:latin typeface="Arial"/>
                <a:ea typeface="Arial"/>
                <a:cs typeface="Arial"/>
              </a:defRPr>
            </a:defPPr>
          </a:lstStyle>
          <a:p xmlns:a="http://schemas.openxmlformats.org/drawingml/2006/main">
            <a:pPr>
              <a:defRPr sz="2400" b="1">
                <a:solidFill>
                  <a:srgbClr val="A5A4FF"/>
                </a:solidFill>
                <a:latin typeface="Arial"/>
                <a:ea typeface="Arial"/>
                <a:cs typeface="Arial"/>
              </a:defRPr>
            </a:pPr>
            <a:r>
              <a:rPr sz="2400" b="1">
                <a:solidFill>
                  <a:srgbClr val="A5A4FF"/>
                </a:solidFill>
                <a:latin typeface="Arial"/>
                <a:ea typeface="Arial"/>
                <a:cs typeface="Arial"/>
              </a:rPr>
              <a:t>Managed platforms</a:t>
            </a:r>
          </a:p>
        </p:txBody>
      </p:sp>
      <p:sp>
        <p:nvSpPr>
          <p:cNvPr id="6" name="">
            <a:extLst xmlns:a="http://schemas.openxmlformats.org/drawingml/2006/main">
              <a:ext uri="{FF2B5EF4-FFF2-40B4-BE49-F238E27FC236}">
                <a16:creationId xmlns:a16="http://schemas.microsoft.com/office/drawing/2014/main" id="{6C7EC9BA-94D3-4E10-B186-4FC4839DF686}"/>
              </a:ext>
            </a:extLst>
          </p:cNvPr>
          <p:cNvSpPr>
            <a:spLocks xmlns:a="http://schemas.openxmlformats.org/drawingml/2006/main" noGrp="1"/>
          </p:cNvSpPr>
          <p:nvPr/>
        </p:nvSpPr>
        <p:spPr>
          <a:xfrm xmlns:a="http://schemas.openxmlformats.org/drawingml/2006/main">
            <a:off x="6648450" y="2152650"/>
            <a:ext cx="49339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EEEEF0"/>
                </a:solidFill>
                <a:latin typeface="Arial"/>
                <a:ea typeface="Arial"/>
                <a:cs typeface="Arial"/>
              </a:defRPr>
            </a:defPPr>
          </a:lstStyle>
          <a:p xmlns:a="http://schemas.openxmlformats.org/drawingml/2006/main">
            <a:pPr>
              <a:defRPr sz="2175" b="0">
                <a:solidFill>
                  <a:srgbClr val="EEEEF0"/>
                </a:solidFill>
                <a:latin typeface="Arial"/>
                <a:ea typeface="Arial"/>
                <a:cs typeface="Arial"/>
              </a:defRPr>
            </a:pPr>
            <a:r>
              <a:rPr sz="2175" b="0">
                <a:solidFill>
                  <a:srgbClr val="EEEEF0"/>
                </a:solidFill>
                <a:latin typeface="Arial"/>
                <a:ea typeface="Arial"/>
                <a:cs typeface="Arial"/>
              </a:rPr>
              <a:t>Integrated services reduce that work. Deployment, available data regions and supported integrations still depend on the vendor’s offering.</a:t>
            </a:r>
          </a:p>
        </p:txBody>
      </p:sp>
      <p:sp>
        <p:nvSpPr>
          <p:cNvPr id="7" name="">
            <a:extLst xmlns:a="http://schemas.openxmlformats.org/drawingml/2006/main">
              <a:ext uri="{FF2B5EF4-FFF2-40B4-BE49-F238E27FC236}">
                <a16:creationId xmlns:a16="http://schemas.microsoft.com/office/drawing/2014/main" id="{B445CF23-12B3-46ED-BCFC-A53C6B48CF95}"/>
              </a:ext>
            </a:extLst>
          </p:cNvPr>
          <p:cNvSpPr>
            <a:spLocks xmlns:a="http://schemas.openxmlformats.org/drawingml/2006/main" noGrp="1"/>
          </p:cNvSpPr>
          <p:nvPr/>
        </p:nvSpPr>
        <p:spPr>
          <a:xfrm xmlns:a="http://schemas.openxmlformats.org/drawingml/2006/main">
            <a:off x="609600" y="4810125"/>
            <a:ext cx="107823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EEEF0"/>
                </a:solidFill>
                <a:latin typeface="Arial"/>
                <a:ea typeface="Arial"/>
                <a:cs typeface="Arial"/>
              </a:defRPr>
            </a:defPPr>
          </a:lstStyle>
          <a:p xmlns:a="http://schemas.openxmlformats.org/drawingml/2006/main">
            <a:pPr>
              <a:defRPr sz="2625" b="1">
                <a:solidFill>
                  <a:srgbClr val="EEEEF0"/>
                </a:solidFill>
                <a:latin typeface="Arial"/>
                <a:ea typeface="Arial"/>
                <a:cs typeface="Arial"/>
              </a:defRPr>
            </a:pPr>
            <a:r>
              <a:rPr sz="2625" b="1">
                <a:solidFill>
                  <a:srgbClr val="EEEEF0"/>
                </a:solidFill>
                <a:latin typeface="Arial"/>
                <a:ea typeface="Arial"/>
                <a:cs typeface="Arial"/>
              </a:rPr>
              <a:t>Krine combines these signals and policies in a system the customer operates.</a:t>
            </a:r>
          </a:p>
        </p:txBody>
      </p:sp>
      <p:sp>
        <p:nvSpPr>
          <p:cNvPr id="8" name="">
            <a:extLst xmlns:a="http://schemas.openxmlformats.org/drawingml/2006/main">
              <a:ext uri="{FF2B5EF4-FFF2-40B4-BE49-F238E27FC236}">
                <a16:creationId xmlns:a16="http://schemas.microsoft.com/office/drawing/2014/main" id="{0C9C9E4D-82B8-4D55-86BD-99BA9505A0FA}"/>
              </a:ext>
            </a:extLst>
          </p:cNvPr>
          <p:cNvSpPr>
            <a:spLocks xmlns:a="http://schemas.openxmlformats.org/drawingml/2006/main" noGrp="1"/>
          </p:cNvSpPr>
          <p:nvPr/>
        </p:nvSpPr>
        <p:spPr>
          <a:xfrm xmlns:a="http://schemas.openxmlformats.org/drawingml/2006/main">
            <a:off x="609600" y="624840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ABADB6"/>
                </a:solidFill>
                <a:latin typeface="Arial"/>
                <a:ea typeface="Arial"/>
                <a:cs typeface="Arial"/>
              </a:defRPr>
            </a:defPPr>
          </a:lstStyle>
          <a:p xmlns:a="http://schemas.openxmlformats.org/drawingml/2006/main">
            <a:pPr>
              <a:defRPr sz="1350" b="0">
                <a:solidFill>
                  <a:srgbClr val="ABADB6"/>
                </a:solidFill>
                <a:latin typeface="Arial"/>
                <a:ea typeface="Arial"/>
                <a:cs typeface="Arial"/>
              </a:defRPr>
            </a:pPr>
            <a:r>
              <a:rPr sz="1350" b="0">
                <a:solidFill>
                  <a:srgbClr val="ABADB6"/>
                </a:solidFill>
                <a:latin typeface="Arial"/>
                <a:ea typeface="Arial"/>
                <a:cs typeface="Arial"/>
              </a:rPr>
              <a:t>Examples: FingerprintJS library and Fingerprint managed API. Source links are included in the speaker notes.</a:t>
            </a:r>
          </a:p>
        </p:txBody>
      </p:sp>
    </p:spTree>
    <p:extLst>
      <p:ext uri="{BB962C8B-B14F-4D97-AF65-F5344CB8AC3E}">
        <p14:creationId xmlns:p14="http://schemas.microsoft.com/office/powerpoint/2010/main" val="32890003"/>
      </p:ext>
    </p:extLst>
  </p:cSld>
</p:sld>
</file>

<file path=ppt/slides/slide3.xml><?xml version="1.0" encoding="utf-8"?>
<p:sld xmlns:p="http://schemas.openxmlformats.org/presentationml/2006/main">
  <p:cSld>
    <p:bg>
      <p:bgPr>
        <a:solidFill xmlns:a="http://schemas.openxmlformats.org/drawingml/2006/main">
          <a:srgbClr val="10101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D366E34-E211-411C-AB28-7EED816F648E}"/>
              </a:ext>
            </a:extLst>
          </p:cNvPr>
          <p:cNvSpPr>
            <a:spLocks xmlns:a="http://schemas.openxmlformats.org/drawingml/2006/main" noGrp="1"/>
          </p:cNvSpPr>
          <p:nvPr/>
        </p:nvSpPr>
        <p:spPr>
          <a:xfrm xmlns:a="http://schemas.openxmlformats.org/drawingml/2006/main">
            <a:off x="609600" y="4000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EEEEF0"/>
                </a:solidFill>
                <a:latin typeface="Arial"/>
                <a:ea typeface="Arial"/>
                <a:cs typeface="Arial"/>
              </a:defRPr>
            </a:defPPr>
          </a:lstStyle>
          <a:p xmlns:a="http://schemas.openxmlformats.org/drawingml/2006/main">
            <a:pPr>
              <a:defRPr sz="3300" b="1">
                <a:solidFill>
                  <a:srgbClr val="EEEEF0"/>
                </a:solidFill>
                <a:latin typeface="Arial"/>
                <a:ea typeface="Arial"/>
                <a:cs typeface="Arial"/>
              </a:defRPr>
            </a:pPr>
            <a:r>
              <a:rPr sz="3300" b="1">
                <a:solidFill>
                  <a:srgbClr val="EEEEF0"/>
                </a:solidFill>
                <a:latin typeface="Arial"/>
                <a:ea typeface="Arial"/>
                <a:cs typeface="Arial"/>
              </a:rPr>
              <a:t>One check before your application acts</a:t>
            </a:r>
          </a:p>
        </p:txBody>
      </p:sp>
      <p:sp>
        <p:nvSpPr>
          <p:cNvPr id="2" name="">
            <a:extLst xmlns:a="http://schemas.openxmlformats.org/drawingml/2006/main">
              <a:ext uri="{FF2B5EF4-FFF2-40B4-BE49-F238E27FC236}">
                <a16:creationId xmlns:a16="http://schemas.microsoft.com/office/drawing/2014/main" id="{A1B46D96-E1E7-4231-96E0-2C3A09EE90DA}"/>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ABADB6"/>
                </a:solidFill>
                <a:latin typeface="Arial"/>
                <a:ea typeface="Arial"/>
                <a:cs typeface="Arial"/>
              </a:defRPr>
            </a:defPPr>
          </a:lstStyle>
          <a:p xmlns:a="http://schemas.openxmlformats.org/drawingml/2006/main">
            <a:pPr>
              <a:defRPr sz="1200" b="0">
                <a:solidFill>
                  <a:srgbClr val="ABADB6"/>
                </a:solidFill>
                <a:latin typeface="Arial"/>
                <a:ea typeface="Arial"/>
                <a:cs typeface="Arial"/>
              </a:defRPr>
            </a:pPr>
            <a:r>
              <a:rPr sz="1200" b="0">
                <a:solidFill>
                  <a:srgbClr val="ABADB6"/>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67D32594-2FA4-47C8-AA9C-B20F1F914216}"/>
              </a:ext>
            </a:extLst>
          </p:cNvPr>
          <p:cNvSpPr>
            <a:spLocks xmlns:a="http://schemas.openxmlformats.org/drawingml/2006/main" noGrp="1"/>
          </p:cNvSpPr>
          <p:nvPr/>
        </p:nvSpPr>
        <p:spPr>
          <a:xfrm xmlns:a="http://schemas.openxmlformats.org/drawingml/2006/main">
            <a:off x="609600" y="1181100"/>
            <a:ext cx="108108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A5A4FF"/>
                </a:solidFill>
                <a:latin typeface="Arial"/>
                <a:ea typeface="Arial"/>
                <a:cs typeface="Arial"/>
              </a:defRPr>
            </a:defPPr>
          </a:lstStyle>
          <a:p xmlns:a="http://schemas.openxmlformats.org/drawingml/2006/main">
            <a:pPr>
              <a:defRPr sz="2325" b="0">
                <a:solidFill>
                  <a:srgbClr val="A5A4FF"/>
                </a:solidFill>
                <a:latin typeface="Arial"/>
                <a:ea typeface="Arial"/>
                <a:cs typeface="Arial"/>
              </a:defRPr>
            </a:pPr>
            <a:r>
              <a:rPr sz="2325" b="0">
                <a:solidFill>
                  <a:srgbClr val="A5A4FF"/>
                </a:solidFill>
                <a:latin typeface="Arial"/>
                <a:ea typeface="Arial"/>
                <a:cs typeface="Arial"/>
              </a:rPr>
              <a:t>Example: before accepting a report, the backend asks can_submit_public_form.</a:t>
            </a:r>
          </a:p>
        </p:txBody>
      </p:sp>
      <p:sp>
        <p:nvSpPr>
          <p:cNvPr id="4" name="">
            <a:extLst xmlns:a="http://schemas.openxmlformats.org/drawingml/2006/main">
              <a:ext uri="{FF2B5EF4-FFF2-40B4-BE49-F238E27FC236}">
                <a16:creationId xmlns:a16="http://schemas.microsoft.com/office/drawing/2014/main" id="{7510852F-218A-4B06-BC32-8953D83F4FED}"/>
              </a:ext>
            </a:extLst>
          </p:cNvPr>
          <p:cNvSpPr>
            <a:spLocks xmlns:a="http://schemas.openxmlformats.org/drawingml/2006/main" noGrp="1"/>
          </p:cNvSpPr>
          <p:nvPr/>
        </p:nvSpPr>
        <p:spPr>
          <a:xfrm xmlns:a="http://schemas.openxmlformats.org/drawingml/2006/main">
            <a:off x="609600" y="24765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A5A4FF"/>
                </a:solidFill>
                <a:latin typeface="Arial"/>
                <a:ea typeface="Arial"/>
                <a:cs typeface="Arial"/>
              </a:defRPr>
            </a:defPPr>
          </a:lstStyle>
          <a:p xmlns:a="http://schemas.openxmlformats.org/drawingml/2006/main">
            <a:pPr>
              <a:defRPr sz="2400" b="0">
                <a:solidFill>
                  <a:srgbClr val="A5A4FF"/>
                </a:solidFill>
                <a:latin typeface="Arial"/>
                <a:ea typeface="Arial"/>
                <a:cs typeface="Arial"/>
              </a:defRPr>
            </a:pPr>
            <a:r>
              <a:rPr sz="2400" b="0">
                <a:solidFill>
                  <a:srgbClr val="A5A4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61F4FD8-CE01-4BA4-82A5-8D1D263F4BB2}"/>
              </a:ext>
            </a:extLst>
          </p:cNvPr>
          <p:cNvSpPr>
            <a:spLocks xmlns:a="http://schemas.openxmlformats.org/drawingml/2006/main" noGrp="1"/>
          </p:cNvSpPr>
          <p:nvPr/>
        </p:nvSpPr>
        <p:spPr>
          <a:xfrm xmlns:a="http://schemas.openxmlformats.org/drawingml/2006/main">
            <a:off x="609600" y="3143250"/>
            <a:ext cx="3543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EEEEF0"/>
                </a:solidFill>
                <a:latin typeface="Arial"/>
                <a:ea typeface="Arial"/>
                <a:cs typeface="Arial"/>
              </a:defRPr>
            </a:defPPr>
          </a:lstStyle>
          <a:p xmlns:a="http://schemas.openxmlformats.org/drawingml/2006/main">
            <a:pPr>
              <a:defRPr sz="2250" b="1">
                <a:solidFill>
                  <a:srgbClr val="EEEEF0"/>
                </a:solidFill>
                <a:latin typeface="Arial"/>
                <a:ea typeface="Arial"/>
                <a:cs typeface="Arial"/>
              </a:defRPr>
            </a:pPr>
            <a:r>
              <a:rPr sz="2250" b="1">
                <a:solidFill>
                  <a:srgbClr val="EEEEF0"/>
                </a:solidFill>
                <a:latin typeface="Arial"/>
                <a:ea typeface="Arial"/>
                <a:cs typeface="Arial"/>
              </a:rPr>
              <a:t>Send evidence</a:t>
            </a:r>
          </a:p>
        </p:txBody>
      </p:sp>
      <p:sp>
        <p:nvSpPr>
          <p:cNvPr id="6" name="">
            <a:extLst xmlns:a="http://schemas.openxmlformats.org/drawingml/2006/main">
              <a:ext uri="{FF2B5EF4-FFF2-40B4-BE49-F238E27FC236}">
                <a16:creationId xmlns:a16="http://schemas.microsoft.com/office/drawing/2014/main" id="{E6634016-06A3-4A48-A746-370618E1F7B2}"/>
              </a:ext>
            </a:extLst>
          </p:cNvPr>
          <p:cNvSpPr>
            <a:spLocks xmlns:a="http://schemas.openxmlformats.org/drawingml/2006/main" noGrp="1"/>
          </p:cNvSpPr>
          <p:nvPr/>
        </p:nvSpPr>
        <p:spPr>
          <a:xfrm xmlns:a="http://schemas.openxmlformats.org/drawingml/2006/main">
            <a:off x="609600" y="4133850"/>
            <a:ext cx="3514725"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ABADB6"/>
                </a:solidFill>
                <a:latin typeface="Arial"/>
                <a:ea typeface="Arial"/>
                <a:cs typeface="Arial"/>
              </a:defRPr>
            </a:defPPr>
          </a:lstStyle>
          <a:p xmlns:a="http://schemas.openxmlformats.org/drawingml/2006/main">
            <a:pPr>
              <a:defRPr sz="1875" b="0">
                <a:solidFill>
                  <a:srgbClr val="ABADB6"/>
                </a:solidFill>
                <a:latin typeface="Arial"/>
                <a:ea typeface="Arial"/>
                <a:cs typeface="Arial"/>
              </a:defRPr>
            </a:pPr>
            <a:r>
              <a:rPr sz="1875" b="0">
                <a:solidFill>
                  <a:srgbClr val="ABADB6"/>
                </a:solidFill>
                <a:latin typeface="Arial"/>
                <a:ea typeface="Arial"/>
                <a:cs typeface="Arial"/>
              </a:rPr>
              <a:t>Your app sends activity events. Krine adds browser signals and data from enabled providers.</a:t>
            </a:r>
          </a:p>
        </p:txBody>
      </p:sp>
      <p:sp>
        <p:nvSpPr>
          <p:cNvPr id="7" name="">
            <a:extLst xmlns:a="http://schemas.openxmlformats.org/drawingml/2006/main">
              <a:ext uri="{FF2B5EF4-FFF2-40B4-BE49-F238E27FC236}">
                <a16:creationId xmlns:a16="http://schemas.microsoft.com/office/drawing/2014/main" id="{C12AA235-23A2-4BA6-B6B9-7F1679334813}"/>
              </a:ext>
            </a:extLst>
          </p:cNvPr>
          <p:cNvSpPr>
            <a:spLocks xmlns:a="http://schemas.openxmlformats.org/drawingml/2006/main" noGrp="1"/>
          </p:cNvSpPr>
          <p:nvPr/>
        </p:nvSpPr>
        <p:spPr>
          <a:xfrm xmlns:a="http://schemas.openxmlformats.org/drawingml/2006/main">
            <a:off x="4391025" y="24765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A5A4FF"/>
                </a:solidFill>
                <a:latin typeface="Arial"/>
                <a:ea typeface="Arial"/>
                <a:cs typeface="Arial"/>
              </a:defRPr>
            </a:defPPr>
          </a:lstStyle>
          <a:p xmlns:a="http://schemas.openxmlformats.org/drawingml/2006/main">
            <a:pPr>
              <a:defRPr sz="2400" b="0">
                <a:solidFill>
                  <a:srgbClr val="A5A4FF"/>
                </a:solidFill>
                <a:latin typeface="Arial"/>
                <a:ea typeface="Arial"/>
                <a:cs typeface="Arial"/>
              </a:defRPr>
            </a:pPr>
            <a:r>
              <a:rPr sz="2400" b="0">
                <a:solidFill>
                  <a:srgbClr val="A5A4FF"/>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D682F2F-F998-44A3-A791-D543B31552F1}"/>
              </a:ext>
            </a:extLst>
          </p:cNvPr>
          <p:cNvSpPr>
            <a:spLocks xmlns:a="http://schemas.openxmlformats.org/drawingml/2006/main" noGrp="1"/>
          </p:cNvSpPr>
          <p:nvPr/>
        </p:nvSpPr>
        <p:spPr>
          <a:xfrm xmlns:a="http://schemas.openxmlformats.org/drawingml/2006/main">
            <a:off x="4391025" y="3143250"/>
            <a:ext cx="3543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EEEEF0"/>
                </a:solidFill>
                <a:latin typeface="Arial"/>
                <a:ea typeface="Arial"/>
                <a:cs typeface="Arial"/>
              </a:defRPr>
            </a:defPPr>
          </a:lstStyle>
          <a:p xmlns:a="http://schemas.openxmlformats.org/drawingml/2006/main">
            <a:pPr>
              <a:defRPr sz="2250" b="1">
                <a:solidFill>
                  <a:srgbClr val="EEEEF0"/>
                </a:solidFill>
                <a:latin typeface="Arial"/>
                <a:ea typeface="Arial"/>
                <a:cs typeface="Arial"/>
              </a:defRPr>
            </a:pPr>
            <a:r>
              <a:rPr sz="2250" b="1">
                <a:solidFill>
                  <a:srgbClr val="EEEEF0"/>
                </a:solidFill>
                <a:latin typeface="Arial"/>
                <a:ea typeface="Arial"/>
                <a:cs typeface="Arial"/>
              </a:rPr>
              <a:t>Evaluate the policy</a:t>
            </a:r>
          </a:p>
        </p:txBody>
      </p:sp>
      <p:sp>
        <p:nvSpPr>
          <p:cNvPr id="9" name="">
            <a:extLst xmlns:a="http://schemas.openxmlformats.org/drawingml/2006/main">
              <a:ext uri="{FF2B5EF4-FFF2-40B4-BE49-F238E27FC236}">
                <a16:creationId xmlns:a16="http://schemas.microsoft.com/office/drawing/2014/main" id="{EF8360D8-3A5F-433C-AE6E-540F862F9F0C}"/>
              </a:ext>
            </a:extLst>
          </p:cNvPr>
          <p:cNvSpPr>
            <a:spLocks xmlns:a="http://schemas.openxmlformats.org/drawingml/2006/main" noGrp="1"/>
          </p:cNvSpPr>
          <p:nvPr/>
        </p:nvSpPr>
        <p:spPr>
          <a:xfrm xmlns:a="http://schemas.openxmlformats.org/drawingml/2006/main">
            <a:off x="4391025" y="4133850"/>
            <a:ext cx="3514725"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ABADB6"/>
                </a:solidFill>
                <a:latin typeface="Arial"/>
                <a:ea typeface="Arial"/>
                <a:cs typeface="Arial"/>
              </a:defRPr>
            </a:defPPr>
          </a:lstStyle>
          <a:p xmlns:a="http://schemas.openxmlformats.org/drawingml/2006/main">
            <a:pPr>
              <a:defRPr sz="1875" b="0">
                <a:solidFill>
                  <a:srgbClr val="ABADB6"/>
                </a:solidFill>
                <a:latin typeface="Arial"/>
                <a:ea typeface="Arial"/>
                <a:cs typeface="Arial"/>
              </a:defRPr>
            </a:pPr>
            <a:r>
              <a:rPr sz="1875" b="0">
                <a:solidFill>
                  <a:srgbClr val="ABADB6"/>
                </a:solidFill>
                <a:latin typeface="Arial"/>
                <a:ea typeface="Arial"/>
                <a:cs typeface="Arial"/>
              </a:rPr>
              <a:t>You choose metrics, thresholds and branches. Krine returns Allow, Deny or a CAPTCHA request.</a:t>
            </a:r>
          </a:p>
        </p:txBody>
      </p:sp>
      <p:sp>
        <p:nvSpPr>
          <p:cNvPr id="10" name="">
            <a:extLst xmlns:a="http://schemas.openxmlformats.org/drawingml/2006/main">
              <a:ext uri="{FF2B5EF4-FFF2-40B4-BE49-F238E27FC236}">
                <a16:creationId xmlns:a16="http://schemas.microsoft.com/office/drawing/2014/main" id="{6A35B337-45B2-4287-BBB1-F6F3BF087203}"/>
              </a:ext>
            </a:extLst>
          </p:cNvPr>
          <p:cNvSpPr>
            <a:spLocks xmlns:a="http://schemas.openxmlformats.org/drawingml/2006/main" noGrp="1"/>
          </p:cNvSpPr>
          <p:nvPr/>
        </p:nvSpPr>
        <p:spPr>
          <a:xfrm xmlns:a="http://schemas.openxmlformats.org/drawingml/2006/main">
            <a:off x="8172450" y="24765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A5A4FF"/>
                </a:solidFill>
                <a:latin typeface="Arial"/>
                <a:ea typeface="Arial"/>
                <a:cs typeface="Arial"/>
              </a:defRPr>
            </a:defPPr>
          </a:lstStyle>
          <a:p xmlns:a="http://schemas.openxmlformats.org/drawingml/2006/main">
            <a:pPr>
              <a:defRPr sz="2400" b="0">
                <a:solidFill>
                  <a:srgbClr val="A5A4FF"/>
                </a:solidFill>
                <a:latin typeface="Arial"/>
                <a:ea typeface="Arial"/>
                <a:cs typeface="Arial"/>
              </a:defRPr>
            </a:pPr>
            <a:r>
              <a:rPr sz="2400" b="0">
                <a:solidFill>
                  <a:srgbClr val="A5A4F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47A5CF3-B450-40E6-B802-EF1AA8487005}"/>
              </a:ext>
            </a:extLst>
          </p:cNvPr>
          <p:cNvSpPr>
            <a:spLocks xmlns:a="http://schemas.openxmlformats.org/drawingml/2006/main" noGrp="1"/>
          </p:cNvSpPr>
          <p:nvPr/>
        </p:nvSpPr>
        <p:spPr>
          <a:xfrm xmlns:a="http://schemas.openxmlformats.org/drawingml/2006/main">
            <a:off x="8172450" y="3143250"/>
            <a:ext cx="3543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EEEEF0"/>
                </a:solidFill>
                <a:latin typeface="Arial"/>
                <a:ea typeface="Arial"/>
                <a:cs typeface="Arial"/>
              </a:defRPr>
            </a:defPPr>
          </a:lstStyle>
          <a:p xmlns:a="http://schemas.openxmlformats.org/drawingml/2006/main">
            <a:pPr>
              <a:defRPr sz="2250" b="1">
                <a:solidFill>
                  <a:srgbClr val="EEEEF0"/>
                </a:solidFill>
                <a:latin typeface="Arial"/>
                <a:ea typeface="Arial"/>
                <a:cs typeface="Arial"/>
              </a:defRPr>
            </a:pPr>
            <a:r>
              <a:rPr sz="2250" b="1">
                <a:solidFill>
                  <a:srgbClr val="EEEEF0"/>
                </a:solidFill>
                <a:latin typeface="Arial"/>
                <a:ea typeface="Arial"/>
                <a:cs typeface="Arial"/>
              </a:rPr>
              <a:t>Act on the result</a:t>
            </a:r>
          </a:p>
        </p:txBody>
      </p:sp>
      <p:sp>
        <p:nvSpPr>
          <p:cNvPr id="12" name="">
            <a:extLst xmlns:a="http://schemas.openxmlformats.org/drawingml/2006/main">
              <a:ext uri="{FF2B5EF4-FFF2-40B4-BE49-F238E27FC236}">
                <a16:creationId xmlns:a16="http://schemas.microsoft.com/office/drawing/2014/main" id="{32E58ADE-B27D-4D6C-B132-D0045D22A40F}"/>
              </a:ext>
            </a:extLst>
          </p:cNvPr>
          <p:cNvSpPr>
            <a:spLocks xmlns:a="http://schemas.openxmlformats.org/drawingml/2006/main" noGrp="1"/>
          </p:cNvSpPr>
          <p:nvPr/>
        </p:nvSpPr>
        <p:spPr>
          <a:xfrm xmlns:a="http://schemas.openxmlformats.org/drawingml/2006/main">
            <a:off x="8172450" y="4133850"/>
            <a:ext cx="3514725"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ABADB6"/>
                </a:solidFill>
                <a:latin typeface="Arial"/>
                <a:ea typeface="Arial"/>
                <a:cs typeface="Arial"/>
              </a:defRPr>
            </a:defPPr>
          </a:lstStyle>
          <a:p xmlns:a="http://schemas.openxmlformats.org/drawingml/2006/main">
            <a:pPr>
              <a:defRPr sz="1875" b="0">
                <a:solidFill>
                  <a:srgbClr val="ABADB6"/>
                </a:solidFill>
                <a:latin typeface="Arial"/>
                <a:ea typeface="Arial"/>
                <a:cs typeface="Arial"/>
              </a:defRPr>
            </a:pPr>
            <a:r>
              <a:rPr sz="1875" b="0">
                <a:solidFill>
                  <a:srgbClr val="ABADB6"/>
                </a:solidFill>
                <a:latin typeface="Arial"/>
                <a:ea typeface="Arial"/>
                <a:cs typeface="Arial"/>
              </a:rPr>
              <a:t>Your backend follows the result. Krine stores the policy version and the evidence used.</a:t>
            </a:r>
          </a:p>
        </p:txBody>
      </p:sp>
      <p:sp>
        <p:nvSpPr>
          <p:cNvPr id="13" name="">
            <a:extLst xmlns:a="http://schemas.openxmlformats.org/drawingml/2006/main">
              <a:ext uri="{FF2B5EF4-FFF2-40B4-BE49-F238E27FC236}">
                <a16:creationId xmlns:a16="http://schemas.microsoft.com/office/drawing/2014/main" id="{8207323E-19BF-42B7-8FE7-F6679BC78504}"/>
              </a:ext>
            </a:extLst>
          </p:cNvPr>
          <p:cNvSpPr>
            <a:spLocks xmlns:a="http://schemas.openxmlformats.org/drawingml/2006/main" noGrp="1"/>
          </p:cNvSpPr>
          <p:nvPr/>
        </p:nvSpPr>
        <p:spPr>
          <a:xfrm xmlns:a="http://schemas.openxmlformats.org/drawingml/2006/main">
            <a:off x="609600" y="624840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ABADB6"/>
                </a:solidFill>
                <a:latin typeface="Arial"/>
                <a:ea typeface="Arial"/>
                <a:cs typeface="Arial"/>
              </a:defRPr>
            </a:defPPr>
          </a:lstStyle>
          <a:p xmlns:a="http://schemas.openxmlformats.org/drawingml/2006/main">
            <a:pPr>
              <a:defRPr sz="1350" b="0">
                <a:solidFill>
                  <a:srgbClr val="ABADB6"/>
                </a:solidFill>
                <a:latin typeface="Arial"/>
                <a:ea typeface="Arial"/>
                <a:cs typeface="Arial"/>
              </a:defRPr>
            </a:pPr>
            <a:r>
              <a:rPr sz="1350" b="0">
                <a:solidFill>
                  <a:srgbClr val="ABADB6"/>
                </a:solidFill>
                <a:latin typeface="Arial"/>
                <a:ea typeface="Arial"/>
                <a:cs typeface="Arial"/>
              </a:rPr>
              <a:t>A “check” is a named application action. The same engine can protect login, trials or submissions.</a:t>
            </a:r>
          </a:p>
        </p:txBody>
      </p:sp>
    </p:spTree>
    <p:extLst>
      <p:ext uri="{BB962C8B-B14F-4D97-AF65-F5344CB8AC3E}">
        <p14:creationId xmlns:p14="http://schemas.microsoft.com/office/powerpoint/2010/main" val="2001461653"/>
      </p:ext>
    </p:extLst>
  </p:cSld>
</p:sld>
</file>

<file path=ppt/slides/slide4.xml><?xml version="1.0" encoding="utf-8"?>
<p:sld xmlns:p="http://schemas.openxmlformats.org/presentationml/2006/main">
  <p:cSld>
    <p:bg>
      <p:bgPr>
        <a:solidFill xmlns:a="http://schemas.openxmlformats.org/drawingml/2006/main">
          <a:srgbClr val="10101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279B4C-C307-47C4-81D0-2E58165EC998}"/>
              </a:ext>
            </a:extLst>
          </p:cNvPr>
          <p:cNvSpPr>
            <a:spLocks xmlns:a="http://schemas.openxmlformats.org/drawingml/2006/main" noGrp="1"/>
          </p:cNvSpPr>
          <p:nvPr/>
        </p:nvSpPr>
        <p:spPr>
          <a:xfrm xmlns:a="http://schemas.openxmlformats.org/drawingml/2006/main">
            <a:off x="609600" y="4000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EEEEF0"/>
                </a:solidFill>
                <a:latin typeface="Arial"/>
                <a:ea typeface="Arial"/>
                <a:cs typeface="Arial"/>
              </a:defRPr>
            </a:defPPr>
          </a:lstStyle>
          <a:p xmlns:a="http://schemas.openxmlformats.org/drawingml/2006/main">
            <a:pPr>
              <a:defRPr sz="3300" b="1">
                <a:solidFill>
                  <a:srgbClr val="EEEEF0"/>
                </a:solidFill>
                <a:latin typeface="Arial"/>
                <a:ea typeface="Arial"/>
                <a:cs typeface="Arial"/>
              </a:defRPr>
            </a:pPr>
            <a:r>
              <a:rPr sz="3300" b="1">
                <a:solidFill>
                  <a:srgbClr val="EEEEF0"/>
                </a:solidFill>
                <a:latin typeface="Arial"/>
                <a:ea typeface="Arial"/>
                <a:cs typeface="Arial"/>
              </a:rPr>
              <a:t>High IP risk triggers CAPTCHA</a:t>
            </a:r>
          </a:p>
        </p:txBody>
      </p:sp>
      <p:sp>
        <p:nvSpPr>
          <p:cNvPr id="2" name="">
            <a:extLst xmlns:a="http://schemas.openxmlformats.org/drawingml/2006/main">
              <a:ext uri="{FF2B5EF4-FFF2-40B4-BE49-F238E27FC236}">
                <a16:creationId xmlns:a16="http://schemas.microsoft.com/office/drawing/2014/main" id="{7D59F212-4FB3-47C9-A3B9-486D75C8DED5}"/>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ABADB6"/>
                </a:solidFill>
                <a:latin typeface="Arial"/>
                <a:ea typeface="Arial"/>
                <a:cs typeface="Arial"/>
              </a:defRPr>
            </a:defPPr>
          </a:lstStyle>
          <a:p xmlns:a="http://schemas.openxmlformats.org/drawingml/2006/main">
            <a:pPr>
              <a:defRPr sz="1200" b="0">
                <a:solidFill>
                  <a:srgbClr val="ABADB6"/>
                </a:solidFill>
                <a:latin typeface="Arial"/>
                <a:ea typeface="Arial"/>
                <a:cs typeface="Arial"/>
              </a:defRPr>
            </a:pPr>
            <a:r>
              <a:rPr sz="1200" b="0">
                <a:solidFill>
                  <a:srgbClr val="ABADB6"/>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881EB8E-D382-4F80-A319-1CD9253F806A}"/>
              </a:ext>
            </a:extLst>
          </p:cNvPr>
          <p:cNvSpPr>
            <a:spLocks xmlns:a="http://schemas.openxmlformats.org/drawingml/2006/main" noGrp="1"/>
          </p:cNvSpPr>
          <p:nvPr/>
        </p:nvSpPr>
        <p:spPr>
          <a:xfrm xmlns:a="http://schemas.openxmlformats.org/drawingml/2006/main">
            <a:off x="609600" y="1143000"/>
            <a:ext cx="109251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ABADB6"/>
                </a:solidFill>
                <a:latin typeface="Arial"/>
                <a:ea typeface="Arial"/>
                <a:cs typeface="Arial"/>
              </a:defRPr>
            </a:defPPr>
          </a:lstStyle>
          <a:p xmlns:a="http://schemas.openxmlformats.org/drawingml/2006/main">
            <a:pPr>
              <a:defRPr sz="2100" b="0">
                <a:solidFill>
                  <a:srgbClr val="ABADB6"/>
                </a:solidFill>
                <a:latin typeface="Arial"/>
                <a:ea typeface="Arial"/>
                <a:cs typeface="Arial"/>
              </a:defRPr>
            </a:pPr>
            <a:r>
              <a:rPr sz="2100" b="0">
                <a:solidFill>
                  <a:srgbClr val="ABADB6"/>
                </a:solidFill>
                <a:latin typeface="Arial"/>
                <a:ea typeface="Arial"/>
                <a:cs typeface="Arial"/>
              </a:rPr>
              <a:t>Low risk proceeds. High or missing risk requires verification before the request can continue.</a:t>
            </a:r>
          </a:p>
        </p:txBody>
      </p:sp>
      <p:pic>
        <p:nvPicPr>
          <p:cNvPr id="4" name="">
            <a:extLst xmlns:a="http://schemas.openxmlformats.org/drawingml/2006/main">
              <a:ext uri="{FF2B5EF4-FFF2-40B4-BE49-F238E27FC236}">
                <a16:creationId xmlns:a16="http://schemas.microsoft.com/office/drawing/2014/main" id="{BCE7370A-2B1A-46DC-89A2-356B613BE2D1}"/>
              </a:ext>
            </a:extLst>
          </p:cNvPr>
          <p:cNvPicPr>
            <a:picLocks xmlns:a="http://schemas.openxmlformats.org/drawingml/2006/main" noChangeAspect="1"/>
          </p:cNvPicPr>
          <p:nvPr/>
        </p:nvPicPr>
        <p:blipFill>
          <a:blip xmlns:r="http://schemas.openxmlformats.org/officeDocument/2006/relationships" xmlns:a="http://schemas.openxmlformats.org/drawingml/2006/main" r:embed="R51f9902bd1584b5a"/>
          <a:stretch xmlns:a="http://schemas.openxmlformats.org/drawingml/2006/main"/>
        </p:blipFill>
        <p:spPr>
          <a:xfrm xmlns:a="http://schemas.openxmlformats.org/drawingml/2006/main">
            <a:off x="609600" y="1905608"/>
            <a:ext cx="10972800" cy="358971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233CDC8-BEBB-4374-9080-B19A46435B61}"/>
              </a:ext>
            </a:extLst>
          </p:cNvPr>
          <p:cNvSpPr>
            <a:spLocks xmlns:a="http://schemas.openxmlformats.org/drawingml/2006/main" noGrp="1"/>
          </p:cNvSpPr>
          <p:nvPr/>
        </p:nvSpPr>
        <p:spPr>
          <a:xfrm xmlns:a="http://schemas.openxmlformats.org/drawingml/2006/main">
            <a:off x="609600" y="5876925"/>
            <a:ext cx="10782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A5A4FF"/>
                </a:solidFill>
                <a:latin typeface="Arial"/>
                <a:ea typeface="Arial"/>
                <a:cs typeface="Arial"/>
              </a:defRPr>
            </a:defPPr>
          </a:lstStyle>
          <a:p xmlns:a="http://schemas.openxmlformats.org/drawingml/2006/main">
            <a:pPr>
              <a:defRPr sz="1725" b="0">
                <a:solidFill>
                  <a:srgbClr val="A5A4FF"/>
                </a:solidFill>
                <a:latin typeface="Arial"/>
                <a:ea typeface="Arial"/>
                <a:cs typeface="Arial"/>
              </a:defRPr>
            </a:pPr>
            <a:r>
              <a:rPr sz="1725" b="0">
                <a:solidFill>
                  <a:srgbClr val="A5A4FF"/>
                </a:solidFill>
                <a:latin typeface="Arial"/>
                <a:ea typeface="Arial"/>
                <a:cs typeface="Arial"/>
              </a:rPr>
              <a:t>Matched = risk ≥ 0.65     ·     Not matched = lower risk     ·     Unknown = no usable risk value</a:t>
            </a:r>
          </a:p>
        </p:txBody>
      </p:sp>
    </p:spTree>
    <p:extLst>
      <p:ext uri="{BB962C8B-B14F-4D97-AF65-F5344CB8AC3E}">
        <p14:creationId xmlns:p14="http://schemas.microsoft.com/office/powerpoint/2010/main" val="321708234"/>
      </p:ext>
    </p:extLst>
  </p:cSld>
</p:sld>
</file>

<file path=ppt/slides/slide5.xml><?xml version="1.0" encoding="utf-8"?>
<p:sld xmlns:p="http://schemas.openxmlformats.org/presentationml/2006/main">
  <p:cSld>
    <p:bg>
      <p:bgPr>
        <a:solidFill xmlns:a="http://schemas.openxmlformats.org/drawingml/2006/main">
          <a:srgbClr val="10101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3F5FBDB-E488-4F89-85C8-90C64608898A}"/>
              </a:ext>
            </a:extLst>
          </p:cNvPr>
          <p:cNvSpPr>
            <a:spLocks xmlns:a="http://schemas.openxmlformats.org/drawingml/2006/main" noGrp="1"/>
          </p:cNvSpPr>
          <p:nvPr/>
        </p:nvSpPr>
        <p:spPr>
          <a:xfrm xmlns:a="http://schemas.openxmlformats.org/drawingml/2006/main">
            <a:off x="609600" y="4000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EEEEF0"/>
                </a:solidFill>
                <a:latin typeface="Arial"/>
                <a:ea typeface="Arial"/>
                <a:cs typeface="Arial"/>
              </a:defRPr>
            </a:defPPr>
          </a:lstStyle>
          <a:p xmlns:a="http://schemas.openxmlformats.org/drawingml/2006/main">
            <a:pPr>
              <a:defRPr sz="3300" b="1">
                <a:solidFill>
                  <a:srgbClr val="EEEEF0"/>
                </a:solidFill>
                <a:latin typeface="Arial"/>
                <a:ea typeface="Arial"/>
                <a:cs typeface="Arial"/>
              </a:defRPr>
            </a:pPr>
            <a:r>
              <a:rPr sz="3300" b="1">
                <a:solidFill>
                  <a:srgbClr val="EEEEF0"/>
                </a:solidFill>
                <a:latin typeface="Arial"/>
                <a:ea typeface="Arial"/>
                <a:cs typeface="Arial"/>
              </a:rPr>
              <a:t>Test the path before publishing it</a:t>
            </a:r>
          </a:p>
        </p:txBody>
      </p:sp>
      <p:sp>
        <p:nvSpPr>
          <p:cNvPr id="2" name="">
            <a:extLst xmlns:a="http://schemas.openxmlformats.org/drawingml/2006/main">
              <a:ext uri="{FF2B5EF4-FFF2-40B4-BE49-F238E27FC236}">
                <a16:creationId xmlns:a16="http://schemas.microsoft.com/office/drawing/2014/main" id="{9E427891-8918-41F3-B6A1-629399F94B3D}"/>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ABADB6"/>
                </a:solidFill>
                <a:latin typeface="Arial"/>
                <a:ea typeface="Arial"/>
                <a:cs typeface="Arial"/>
              </a:defRPr>
            </a:defPPr>
          </a:lstStyle>
          <a:p xmlns:a="http://schemas.openxmlformats.org/drawingml/2006/main">
            <a:pPr>
              <a:defRPr sz="1200" b="0">
                <a:solidFill>
                  <a:srgbClr val="ABADB6"/>
                </a:solidFill>
                <a:latin typeface="Arial"/>
                <a:ea typeface="Arial"/>
                <a:cs typeface="Arial"/>
              </a:defRPr>
            </a:pPr>
            <a:r>
              <a:rPr sz="1200" b="0">
                <a:solidFill>
                  <a:srgbClr val="ABADB6"/>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4400D31-EAB6-4EAD-8386-6EC8207AFEB5}"/>
              </a:ext>
            </a:extLst>
          </p:cNvPr>
          <p:cNvSpPr>
            <a:spLocks xmlns:a="http://schemas.openxmlformats.org/drawingml/2006/main" noGrp="1"/>
          </p:cNvSpPr>
          <p:nvPr/>
        </p:nvSpPr>
        <p:spPr>
          <a:xfrm xmlns:a="http://schemas.openxmlformats.org/drawingml/2006/main">
            <a:off x="609600" y="1114425"/>
            <a:ext cx="10801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A5A4FF"/>
                </a:solidFill>
                <a:latin typeface="Arial"/>
                <a:ea typeface="Arial"/>
                <a:cs typeface="Arial"/>
              </a:defRPr>
            </a:defPPr>
          </a:lstStyle>
          <a:p xmlns:a="http://schemas.openxmlformats.org/drawingml/2006/main">
            <a:pPr>
              <a:defRPr sz="2100" b="0">
                <a:solidFill>
                  <a:srgbClr val="A5A4FF"/>
                </a:solidFill>
                <a:latin typeface="Arial"/>
                <a:ea typeface="Arial"/>
                <a:cs typeface="Arial"/>
              </a:defRPr>
            </a:pPr>
            <a:r>
              <a:rPr sz="2100" b="0">
                <a:solidFill>
                  <a:srgbClr val="A5A4FF"/>
                </a:solidFill>
                <a:latin typeface="Arial"/>
                <a:ea typeface="Arial"/>
                <a:cs typeface="Arial"/>
              </a:rPr>
              <a:t>Sample: IP risk 0.82 + CAPTCHA passed → Allow. The highlighted path shows why.</a:t>
            </a:r>
          </a:p>
        </p:txBody>
      </p:sp>
      <p:pic>
        <p:nvPicPr>
          <p:cNvPr id="4" name="">
            <a:extLst xmlns:a="http://schemas.openxmlformats.org/drawingml/2006/main">
              <a:ext uri="{FF2B5EF4-FFF2-40B4-BE49-F238E27FC236}">
                <a16:creationId xmlns:a16="http://schemas.microsoft.com/office/drawing/2014/main" id="{45E1F4F9-C5B5-4B13-B59D-9DE6D2157097}"/>
              </a:ext>
            </a:extLst>
          </p:cNvPr>
          <p:cNvPicPr>
            <a:picLocks xmlns:a="http://schemas.openxmlformats.org/drawingml/2006/main" noChangeAspect="1"/>
          </p:cNvPicPr>
          <p:nvPr/>
        </p:nvPicPr>
        <p:blipFill>
          <a:blip xmlns:r="http://schemas.openxmlformats.org/officeDocument/2006/relationships" xmlns:a="http://schemas.openxmlformats.org/drawingml/2006/main" r:embed="R0d3c7b4129ea4746"/>
          <a:stretch xmlns:a="http://schemas.openxmlformats.org/drawingml/2006/main"/>
        </p:blipFill>
        <p:spPr>
          <a:xfrm xmlns:a="http://schemas.openxmlformats.org/drawingml/2006/main">
            <a:off x="1264943" y="1695450"/>
            <a:ext cx="9662113" cy="4381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1702732-55FF-4C9F-BCC9-DA93BDEA7F79}"/>
              </a:ext>
            </a:extLst>
          </p:cNvPr>
          <p:cNvSpPr>
            <a:spLocks xmlns:a="http://schemas.openxmlformats.org/drawingml/2006/main" noGrp="1"/>
          </p:cNvSpPr>
          <p:nvPr/>
        </p:nvSpPr>
        <p:spPr>
          <a:xfrm xmlns:a="http://schemas.openxmlformats.org/drawingml/2006/main">
            <a:off x="609600" y="624840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ABADB6"/>
                </a:solidFill>
                <a:latin typeface="Arial"/>
                <a:ea typeface="Arial"/>
                <a:cs typeface="Arial"/>
              </a:defRPr>
            </a:defPPr>
          </a:lstStyle>
          <a:p xmlns:a="http://schemas.openxmlformats.org/drawingml/2006/main">
            <a:pPr>
              <a:defRPr sz="1350" b="0">
                <a:solidFill>
                  <a:srgbClr val="ABADB6"/>
                </a:solidFill>
                <a:latin typeface="Arial"/>
                <a:ea typeface="Arial"/>
                <a:cs typeface="Arial"/>
              </a:defRPr>
            </a:pPr>
            <a:r>
              <a:rPr sz="1350" b="0">
                <a:solidFill>
                  <a:srgbClr val="ABADB6"/>
                </a:solidFill>
                <a:latin typeface="Arial"/>
                <a:ea typeface="Arial"/>
                <a:cs typeface="Arial"/>
              </a:rPr>
              <a:t>Synthetic test inputs; real evaluator. Failed, expired or unavailable verification follows the Deny branch.</a:t>
            </a:r>
          </a:p>
        </p:txBody>
      </p:sp>
    </p:spTree>
    <p:extLst>
      <p:ext uri="{BB962C8B-B14F-4D97-AF65-F5344CB8AC3E}">
        <p14:creationId xmlns:p14="http://schemas.microsoft.com/office/powerpoint/2010/main" val="1997880101"/>
      </p:ext>
    </p:extLst>
  </p:cSld>
</p:sld>
</file>

<file path=ppt/slides/slide6.xml><?xml version="1.0" encoding="utf-8"?>
<p:sld xmlns:p="http://schemas.openxmlformats.org/presentationml/2006/main">
  <p:cSld>
    <p:bg>
      <p:bgPr>
        <a:solidFill xmlns:a="http://schemas.openxmlformats.org/drawingml/2006/main">
          <a:srgbClr val="10101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E314BA-9E16-448F-A621-EFC10CF19398}"/>
              </a:ext>
            </a:extLst>
          </p:cNvPr>
          <p:cNvSpPr>
            <a:spLocks xmlns:a="http://schemas.openxmlformats.org/drawingml/2006/main" noGrp="1"/>
          </p:cNvSpPr>
          <p:nvPr/>
        </p:nvSpPr>
        <p:spPr>
          <a:xfrm xmlns:a="http://schemas.openxmlformats.org/drawingml/2006/main">
            <a:off x="609600" y="4000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EEEEF0"/>
                </a:solidFill>
                <a:latin typeface="Arial"/>
                <a:ea typeface="Arial"/>
                <a:cs typeface="Arial"/>
              </a:defRPr>
            </a:defPPr>
          </a:lstStyle>
          <a:p xmlns:a="http://schemas.openxmlformats.org/drawingml/2006/main">
            <a:pPr>
              <a:defRPr sz="3300" b="1">
                <a:solidFill>
                  <a:srgbClr val="EEEEF0"/>
                </a:solidFill>
                <a:latin typeface="Arial"/>
                <a:ea typeface="Arial"/>
                <a:cs typeface="Arial"/>
              </a:defRPr>
            </a:pPr>
            <a:r>
              <a:rPr sz="3300" b="1">
                <a:solidFill>
                  <a:srgbClr val="EEEEF0"/>
                </a:solidFill>
                <a:latin typeface="Arial"/>
                <a:ea typeface="Arial"/>
                <a:cs typeface="Arial"/>
              </a:rPr>
              <a:t>Investigate a decision from its evidence</a:t>
            </a:r>
          </a:p>
        </p:txBody>
      </p:sp>
      <p:sp>
        <p:nvSpPr>
          <p:cNvPr id="2" name="">
            <a:extLst xmlns:a="http://schemas.openxmlformats.org/drawingml/2006/main">
              <a:ext uri="{FF2B5EF4-FFF2-40B4-BE49-F238E27FC236}">
                <a16:creationId xmlns:a16="http://schemas.microsoft.com/office/drawing/2014/main" id="{7CD1F00A-9EFD-4A6C-869D-3EFB07D5B372}"/>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ABADB6"/>
                </a:solidFill>
                <a:latin typeface="Arial"/>
                <a:ea typeface="Arial"/>
                <a:cs typeface="Arial"/>
              </a:defRPr>
            </a:defPPr>
          </a:lstStyle>
          <a:p xmlns:a="http://schemas.openxmlformats.org/drawingml/2006/main">
            <a:pPr>
              <a:defRPr sz="1200" b="0">
                <a:solidFill>
                  <a:srgbClr val="ABADB6"/>
                </a:solidFill>
                <a:latin typeface="Arial"/>
                <a:ea typeface="Arial"/>
                <a:cs typeface="Arial"/>
              </a:defRPr>
            </a:pPr>
            <a:r>
              <a:rPr sz="1200" b="0">
                <a:solidFill>
                  <a:srgbClr val="ABADB6"/>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4A1E5DB4-50A5-4023-9014-ECA3606C71FF}"/>
              </a:ext>
            </a:extLst>
          </p:cNvPr>
          <p:cNvSpPr>
            <a:spLocks xmlns:a="http://schemas.openxmlformats.org/drawingml/2006/main" noGrp="1"/>
          </p:cNvSpPr>
          <p:nvPr/>
        </p:nvSpPr>
        <p:spPr>
          <a:xfrm xmlns:a="http://schemas.openxmlformats.org/drawingml/2006/main">
            <a:off x="609600" y="1133475"/>
            <a:ext cx="10829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ABADB6"/>
                </a:solidFill>
                <a:latin typeface="Arial"/>
                <a:ea typeface="Arial"/>
                <a:cs typeface="Arial"/>
              </a:defRPr>
            </a:defPPr>
          </a:lstStyle>
          <a:p xmlns:a="http://schemas.openxmlformats.org/drawingml/2006/main">
            <a:pPr>
              <a:defRPr sz="2175" b="0">
                <a:solidFill>
                  <a:srgbClr val="ABADB6"/>
                </a:solidFill>
                <a:latin typeface="Arial"/>
                <a:ea typeface="Arial"/>
                <a:cs typeface="Arial"/>
              </a:defRPr>
            </a:pPr>
            <a:r>
              <a:rPr sz="2175" b="0">
                <a:solidFill>
                  <a:srgbClr val="ABADB6"/>
                </a:solidFill>
                <a:latin typeface="Arial"/>
                <a:ea typeface="Arial"/>
                <a:cs typeface="Arial"/>
              </a:rPr>
              <a:t>See the result, the policy version and the evidence that caused it—together.</a:t>
            </a:r>
          </a:p>
        </p:txBody>
      </p:sp>
      <p:pic>
        <p:nvPicPr>
          <p:cNvPr id="4" name="">
            <a:extLst xmlns:a="http://schemas.openxmlformats.org/drawingml/2006/main">
              <a:ext uri="{FF2B5EF4-FFF2-40B4-BE49-F238E27FC236}">
                <a16:creationId xmlns:a16="http://schemas.microsoft.com/office/drawing/2014/main" id="{42D75F59-BA33-48C0-9327-816FD7317A8D}"/>
              </a:ext>
            </a:extLst>
          </p:cNvPr>
          <p:cNvPicPr>
            <a:picLocks xmlns:a="http://schemas.openxmlformats.org/drawingml/2006/main" noChangeAspect="1"/>
          </p:cNvPicPr>
          <p:nvPr/>
        </p:nvPicPr>
        <p:blipFill>
          <a:blip xmlns:r="http://schemas.openxmlformats.org/officeDocument/2006/relationships" xmlns:a="http://schemas.openxmlformats.org/drawingml/2006/main" r:embed="R45e09863965a44d2"/>
          <a:stretch xmlns:a="http://schemas.openxmlformats.org/drawingml/2006/main"/>
        </p:blipFill>
        <p:spPr>
          <a:xfrm xmlns:a="http://schemas.openxmlformats.org/drawingml/2006/main">
            <a:off x="617516" y="1971675"/>
            <a:ext cx="7385093" cy="3857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D0C95C5-C2CF-48EA-AF51-852F339D8B31}"/>
              </a:ext>
            </a:extLst>
          </p:cNvPr>
          <p:cNvSpPr>
            <a:spLocks xmlns:a="http://schemas.openxmlformats.org/drawingml/2006/main" noGrp="1"/>
          </p:cNvSpPr>
          <p:nvPr/>
        </p:nvSpPr>
        <p:spPr>
          <a:xfrm xmlns:a="http://schemas.openxmlformats.org/drawingml/2006/main">
            <a:off x="8420100" y="2066925"/>
            <a:ext cx="3219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A5A4FF"/>
                </a:solidFill>
                <a:latin typeface="Arial"/>
                <a:ea typeface="Arial"/>
                <a:cs typeface="Arial"/>
              </a:defRPr>
            </a:defPPr>
          </a:lstStyle>
          <a:p xmlns:a="http://schemas.openxmlformats.org/drawingml/2006/main">
            <a:pPr>
              <a:defRPr sz="2325" b="1">
                <a:solidFill>
                  <a:srgbClr val="A5A4FF"/>
                </a:solidFill>
                <a:latin typeface="Arial"/>
                <a:ea typeface="Arial"/>
                <a:cs typeface="Arial"/>
              </a:defRPr>
            </a:pPr>
            <a:r>
              <a:rPr sz="2325" b="1">
                <a:solidFill>
                  <a:srgbClr val="A5A4FF"/>
                </a:solidFill>
                <a:latin typeface="Arial"/>
                <a:ea typeface="Arial"/>
                <a:cs typeface="Arial"/>
              </a:rPr>
              <a:t>Why this trial was denied</a:t>
            </a:r>
          </a:p>
        </p:txBody>
      </p:sp>
      <p:sp>
        <p:nvSpPr>
          <p:cNvPr id="6" name="">
            <a:extLst xmlns:a="http://schemas.openxmlformats.org/drawingml/2006/main">
              <a:ext uri="{FF2B5EF4-FFF2-40B4-BE49-F238E27FC236}">
                <a16:creationId xmlns:a16="http://schemas.microsoft.com/office/drawing/2014/main" id="{8E3AFD2A-C878-4BA0-9E07-4CF8AEBAECF8}"/>
              </a:ext>
            </a:extLst>
          </p:cNvPr>
          <p:cNvSpPr>
            <a:spLocks xmlns:a="http://schemas.openxmlformats.org/drawingml/2006/main" noGrp="1"/>
          </p:cNvSpPr>
          <p:nvPr/>
        </p:nvSpPr>
        <p:spPr>
          <a:xfrm xmlns:a="http://schemas.openxmlformats.org/drawingml/2006/main">
            <a:off x="8420100" y="3190875"/>
            <a:ext cx="31527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EEEEF0"/>
                </a:solidFill>
                <a:latin typeface="Arial"/>
                <a:ea typeface="Arial"/>
                <a:cs typeface="Arial"/>
              </a:defRPr>
            </a:defPPr>
          </a:lstStyle>
          <a:p xmlns:a="http://schemas.openxmlformats.org/drawingml/2006/main">
            <a:pPr>
              <a:defRPr sz="2025" b="0">
                <a:solidFill>
                  <a:srgbClr val="EEEEF0"/>
                </a:solidFill>
                <a:latin typeface="Arial"/>
                <a:ea typeface="Arial"/>
                <a:cs typeface="Arial"/>
              </a:defRPr>
            </a:pPr>
            <a:r>
              <a:rPr sz="2025" b="0">
                <a:solidFill>
                  <a:srgbClr val="EEEEF0"/>
                </a:solidFill>
                <a:latin typeface="Arial"/>
                <a:ea typeface="Arial"/>
                <a:cs typeface="Arial"/>
              </a:rPr>
              <a:t>40 accounts were linked to one browser client in 30 days. This policy denies a trial when the count reaches 2.</a:t>
            </a:r>
          </a:p>
        </p:txBody>
      </p:sp>
      <p:sp>
        <p:nvSpPr>
          <p:cNvPr id="7" name="">
            <a:extLst xmlns:a="http://schemas.openxmlformats.org/drawingml/2006/main">
              <a:ext uri="{FF2B5EF4-FFF2-40B4-BE49-F238E27FC236}">
                <a16:creationId xmlns:a16="http://schemas.microsoft.com/office/drawing/2014/main" id="{24B2B0E0-8FDD-4753-8907-3643953ED09E}"/>
              </a:ext>
            </a:extLst>
          </p:cNvPr>
          <p:cNvSpPr>
            <a:spLocks xmlns:a="http://schemas.openxmlformats.org/drawingml/2006/main" noGrp="1"/>
          </p:cNvSpPr>
          <p:nvPr/>
        </p:nvSpPr>
        <p:spPr>
          <a:xfrm xmlns:a="http://schemas.openxmlformats.org/drawingml/2006/main">
            <a:off x="8420100" y="5267325"/>
            <a:ext cx="31718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ABADB6"/>
                </a:solidFill>
                <a:latin typeface="Arial"/>
                <a:ea typeface="Arial"/>
                <a:cs typeface="Arial"/>
              </a:defRPr>
            </a:defPPr>
          </a:lstStyle>
          <a:p xmlns:a="http://schemas.openxmlformats.org/drawingml/2006/main">
            <a:pPr>
              <a:defRPr sz="1800" b="0">
                <a:solidFill>
                  <a:srgbClr val="ABADB6"/>
                </a:solidFill>
                <a:latin typeface="Arial"/>
                <a:ea typeface="Arial"/>
                <a:cs typeface="Arial"/>
              </a:defRPr>
            </a:pPr>
            <a:r>
              <a:rPr sz="1800" b="0">
                <a:solidFill>
                  <a:srgbClr val="ABADB6"/>
                </a:solidFill>
                <a:latin typeface="Arial"/>
                <a:ea typeface="Arial"/>
                <a:cs typeface="Arial"/>
              </a:rPr>
              <a:t>Policy v2 and the captured count remain available for review.</a:t>
            </a:r>
          </a:p>
        </p:txBody>
      </p:sp>
      <p:sp>
        <p:nvSpPr>
          <p:cNvPr id="8" name="">
            <a:extLst xmlns:a="http://schemas.openxmlformats.org/drawingml/2006/main">
              <a:ext uri="{FF2B5EF4-FFF2-40B4-BE49-F238E27FC236}">
                <a16:creationId xmlns:a16="http://schemas.microsoft.com/office/drawing/2014/main" id="{2E20EAD4-3AB4-4A40-B196-B24D7686FEAB}"/>
              </a:ext>
            </a:extLst>
          </p:cNvPr>
          <p:cNvSpPr>
            <a:spLocks xmlns:a="http://schemas.openxmlformats.org/drawingml/2006/main" noGrp="1"/>
          </p:cNvSpPr>
          <p:nvPr/>
        </p:nvSpPr>
        <p:spPr>
          <a:xfrm xmlns:a="http://schemas.openxmlformats.org/drawingml/2006/main">
            <a:off x="609600" y="624840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ABADB6"/>
                </a:solidFill>
                <a:latin typeface="Arial"/>
                <a:ea typeface="Arial"/>
                <a:cs typeface="Arial"/>
              </a:defRPr>
            </a:defPPr>
          </a:lstStyle>
          <a:p xmlns:a="http://schemas.openxmlformats.org/drawingml/2006/main">
            <a:pPr>
              <a:defRPr sz="1350" b="0">
                <a:solidFill>
                  <a:srgbClr val="ABADB6"/>
                </a:solidFill>
                <a:latin typeface="Arial"/>
                <a:ea typeface="Arial"/>
                <a:cs typeface="Arial"/>
              </a:defRPr>
            </a:pPr>
            <a:r>
              <a:rPr sz="1350" b="0">
                <a:solidFill>
                  <a:srgbClr val="ABADB6"/>
                </a:solidFill>
                <a:latin typeface="Arial"/>
                <a:ea typeface="Arial"/>
                <a:cs typeface="Arial"/>
              </a:rPr>
              <a:t>Recorded sample activity. The decision snapshot remains separate from today’s metric values.</a:t>
            </a:r>
          </a:p>
        </p:txBody>
      </p:sp>
    </p:spTree>
    <p:extLst>
      <p:ext uri="{BB962C8B-B14F-4D97-AF65-F5344CB8AC3E}">
        <p14:creationId xmlns:p14="http://schemas.microsoft.com/office/powerpoint/2010/main" val="1581874036"/>
      </p:ext>
    </p:extLst>
  </p:cSld>
</p:sld>
</file>

<file path=ppt/slides/slide7.xml><?xml version="1.0" encoding="utf-8"?>
<p:sld xmlns:p="http://schemas.openxmlformats.org/presentationml/2006/main">
  <p:cSld>
    <p:bg>
      <p:bgPr>
        <a:solidFill xmlns:a="http://schemas.openxmlformats.org/drawingml/2006/main">
          <a:srgbClr val="10101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F06E525-E296-44A9-A2CD-CD6E7D92FB8E}"/>
              </a:ext>
            </a:extLst>
          </p:cNvPr>
          <p:cNvSpPr>
            <a:spLocks xmlns:a="http://schemas.openxmlformats.org/drawingml/2006/main" noGrp="1"/>
          </p:cNvSpPr>
          <p:nvPr/>
        </p:nvSpPr>
        <p:spPr>
          <a:xfrm xmlns:a="http://schemas.openxmlformats.org/drawingml/2006/main">
            <a:off x="609600" y="4000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EEEEF0"/>
                </a:solidFill>
                <a:latin typeface="Arial"/>
                <a:ea typeface="Arial"/>
                <a:cs typeface="Arial"/>
              </a:defRPr>
            </a:defPPr>
          </a:lstStyle>
          <a:p xmlns:a="http://schemas.openxmlformats.org/drawingml/2006/main">
            <a:pPr>
              <a:defRPr sz="3300" b="1">
                <a:solidFill>
                  <a:srgbClr val="EEEEF0"/>
                </a:solidFill>
                <a:latin typeface="Arial"/>
                <a:ea typeface="Arial"/>
                <a:cs typeface="Arial"/>
              </a:defRPr>
            </a:pPr>
            <a:r>
              <a:rPr sz="3300" b="1">
                <a:solidFill>
                  <a:srgbClr val="EEEEF0"/>
                </a:solidFill>
                <a:latin typeface="Arial"/>
                <a:ea typeface="Arial"/>
                <a:cs typeface="Arial"/>
              </a:rPr>
              <a:t>Own the system that holds your evidence</a:t>
            </a:r>
          </a:p>
        </p:txBody>
      </p:sp>
      <p:sp>
        <p:nvSpPr>
          <p:cNvPr id="2" name="">
            <a:extLst xmlns:a="http://schemas.openxmlformats.org/drawingml/2006/main">
              <a:ext uri="{FF2B5EF4-FFF2-40B4-BE49-F238E27FC236}">
                <a16:creationId xmlns:a16="http://schemas.microsoft.com/office/drawing/2014/main" id="{344C381D-5BEB-4F98-93B7-B5641FBFA0B4}"/>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ABADB6"/>
                </a:solidFill>
                <a:latin typeface="Arial"/>
                <a:ea typeface="Arial"/>
                <a:cs typeface="Arial"/>
              </a:defRPr>
            </a:defPPr>
          </a:lstStyle>
          <a:p xmlns:a="http://schemas.openxmlformats.org/drawingml/2006/main">
            <a:pPr>
              <a:defRPr sz="1200" b="0">
                <a:solidFill>
                  <a:srgbClr val="ABADB6"/>
                </a:solidFill>
                <a:latin typeface="Arial"/>
                <a:ea typeface="Arial"/>
                <a:cs typeface="Arial"/>
              </a:defRPr>
            </a:pPr>
            <a:r>
              <a:rPr sz="1200" b="0">
                <a:solidFill>
                  <a:srgbClr val="ABADB6"/>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4ACA2A23-2460-46FC-ACB0-414956E4C08D}"/>
              </a:ext>
            </a:extLst>
          </p:cNvPr>
          <p:cNvSpPr>
            <a:spLocks xmlns:a="http://schemas.openxmlformats.org/drawingml/2006/main" noGrp="1"/>
          </p:cNvSpPr>
          <p:nvPr/>
        </p:nvSpPr>
        <p:spPr>
          <a:xfrm xmlns:a="http://schemas.openxmlformats.org/drawingml/2006/main">
            <a:off x="609600" y="120967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A5A4FF"/>
                </a:solidFill>
                <a:latin typeface="Arial"/>
                <a:ea typeface="Arial"/>
                <a:cs typeface="Arial"/>
              </a:defRPr>
            </a:defPPr>
          </a:lstStyle>
          <a:p xmlns:a="http://schemas.openxmlformats.org/drawingml/2006/main">
            <a:pPr>
              <a:defRPr sz="2700" b="1">
                <a:solidFill>
                  <a:srgbClr val="A5A4FF"/>
                </a:solidFill>
                <a:latin typeface="Arial"/>
                <a:ea typeface="Arial"/>
                <a:cs typeface="Arial"/>
              </a:defRPr>
            </a:pPr>
            <a:r>
              <a:rPr sz="2700" b="1">
                <a:solidFill>
                  <a:srgbClr val="A5A4FF"/>
                </a:solidFill>
                <a:latin typeface="Arial"/>
                <a:ea typeface="Arial"/>
                <a:cs typeface="Arial"/>
              </a:rPr>
              <a:t>Run the engine, dashboard and data stores in infrastructure you control.</a:t>
            </a:r>
          </a:p>
        </p:txBody>
      </p:sp>
      <p:sp>
        <p:nvSpPr>
          <p:cNvPr id="4" name="">
            <a:extLst xmlns:a="http://schemas.openxmlformats.org/drawingml/2006/main">
              <a:ext uri="{FF2B5EF4-FFF2-40B4-BE49-F238E27FC236}">
                <a16:creationId xmlns:a16="http://schemas.microsoft.com/office/drawing/2014/main" id="{70B8D4C3-5706-44AE-B018-61C41ACA7601}"/>
              </a:ext>
            </a:extLst>
          </p:cNvPr>
          <p:cNvSpPr>
            <a:spLocks xmlns:a="http://schemas.openxmlformats.org/drawingml/2006/main" noGrp="1"/>
          </p:cNvSpPr>
          <p:nvPr/>
        </p:nvSpPr>
        <p:spPr>
          <a:xfrm xmlns:a="http://schemas.openxmlformats.org/drawingml/2006/main">
            <a:off x="609600" y="2590800"/>
            <a:ext cx="5076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EEEEF0"/>
                </a:solidFill>
                <a:latin typeface="Arial"/>
                <a:ea typeface="Arial"/>
                <a:cs typeface="Arial"/>
              </a:defRPr>
            </a:defPPr>
          </a:lstStyle>
          <a:p xmlns:a="http://schemas.openxmlformats.org/drawingml/2006/main">
            <a:pPr>
              <a:defRPr sz="2250" b="1">
                <a:solidFill>
                  <a:srgbClr val="EEEEF0"/>
                </a:solidFill>
                <a:latin typeface="Arial"/>
                <a:ea typeface="Arial"/>
                <a:cs typeface="Arial"/>
              </a:defRPr>
            </a:pPr>
            <a:r>
              <a:rPr sz="2250" b="1">
                <a:solidFill>
                  <a:srgbClr val="EEEEF0"/>
                </a:solidFill>
                <a:latin typeface="Arial"/>
                <a:ea typeface="Arial"/>
                <a:cs typeface="Arial"/>
              </a:rPr>
              <a:t>Choose where data lives</a:t>
            </a:r>
          </a:p>
        </p:txBody>
      </p:sp>
      <p:sp>
        <p:nvSpPr>
          <p:cNvPr id="5" name="">
            <a:extLst xmlns:a="http://schemas.openxmlformats.org/drawingml/2006/main">
              <a:ext uri="{FF2B5EF4-FFF2-40B4-BE49-F238E27FC236}">
                <a16:creationId xmlns:a16="http://schemas.microsoft.com/office/drawing/2014/main" id="{26FE82A8-F124-4ECF-9916-835DC703E3CF}"/>
              </a:ext>
            </a:extLst>
          </p:cNvPr>
          <p:cNvSpPr>
            <a:spLocks xmlns:a="http://schemas.openxmlformats.org/drawingml/2006/main" noGrp="1"/>
          </p:cNvSpPr>
          <p:nvPr/>
        </p:nvSpPr>
        <p:spPr>
          <a:xfrm xmlns:a="http://schemas.openxmlformats.org/drawingml/2006/main">
            <a:off x="609600" y="3305175"/>
            <a:ext cx="49720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EEEEF0"/>
                </a:solidFill>
                <a:latin typeface="Arial"/>
                <a:ea typeface="Arial"/>
                <a:cs typeface="Arial"/>
              </a:defRPr>
            </a:defPPr>
          </a:lstStyle>
          <a:p xmlns:a="http://schemas.openxmlformats.org/drawingml/2006/main">
            <a:pPr>
              <a:defRPr sz="2175" b="0">
                <a:solidFill>
                  <a:srgbClr val="EEEEF0"/>
                </a:solidFill>
                <a:latin typeface="Arial"/>
                <a:ea typeface="Arial"/>
                <a:cs typeface="Arial"/>
              </a:defRPr>
            </a:pPr>
            <a:r>
              <a:rPr sz="2175" b="0">
                <a:solidFill>
                  <a:srgbClr val="EEEEF0"/>
                </a:solidFill>
                <a:latin typeface="Arial"/>
                <a:ea typeface="Arial"/>
                <a:cs typeface="Arial"/>
              </a:rPr>
              <a:t>Set the deployment region, database access, retention and backup policy. Core operation does not require a Krine cloud account.</a:t>
            </a:r>
          </a:p>
        </p:txBody>
      </p:sp>
      <p:sp>
        <p:nvSpPr>
          <p:cNvPr id="6" name="">
            <a:extLst xmlns:a="http://schemas.openxmlformats.org/drawingml/2006/main">
              <a:ext uri="{FF2B5EF4-FFF2-40B4-BE49-F238E27FC236}">
                <a16:creationId xmlns:a16="http://schemas.microsoft.com/office/drawing/2014/main" id="{40ED25CA-0ADB-4960-9CC5-92932E96E442}"/>
              </a:ext>
            </a:extLst>
          </p:cNvPr>
          <p:cNvSpPr>
            <a:spLocks xmlns:a="http://schemas.openxmlformats.org/drawingml/2006/main" noGrp="1"/>
          </p:cNvSpPr>
          <p:nvPr/>
        </p:nvSpPr>
        <p:spPr>
          <a:xfrm xmlns:a="http://schemas.openxmlformats.org/drawingml/2006/main">
            <a:off x="6677025" y="2590800"/>
            <a:ext cx="48672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EEEEF0"/>
                </a:solidFill>
                <a:latin typeface="Arial"/>
                <a:ea typeface="Arial"/>
                <a:cs typeface="Arial"/>
              </a:defRPr>
            </a:defPPr>
          </a:lstStyle>
          <a:p xmlns:a="http://schemas.openxmlformats.org/drawingml/2006/main">
            <a:pPr>
              <a:defRPr sz="2250" b="1">
                <a:solidFill>
                  <a:srgbClr val="EEEEF0"/>
                </a:solidFill>
                <a:latin typeface="Arial"/>
                <a:ea typeface="Arial"/>
                <a:cs typeface="Arial"/>
              </a:defRPr>
            </a:pPr>
            <a:r>
              <a:rPr sz="2250" b="1">
                <a:solidFill>
                  <a:srgbClr val="EEEEF0"/>
                </a:solidFill>
                <a:latin typeface="Arial"/>
                <a:ea typeface="Arial"/>
                <a:cs typeface="Arial"/>
              </a:rPr>
              <a:t>Keep the decision history</a:t>
            </a:r>
          </a:p>
        </p:txBody>
      </p:sp>
      <p:sp>
        <p:nvSpPr>
          <p:cNvPr id="7" name="">
            <a:extLst xmlns:a="http://schemas.openxmlformats.org/drawingml/2006/main">
              <a:ext uri="{FF2B5EF4-FFF2-40B4-BE49-F238E27FC236}">
                <a16:creationId xmlns:a16="http://schemas.microsoft.com/office/drawing/2014/main" id="{E940CFF9-21C8-4806-B56F-5E4CD99AB088}"/>
              </a:ext>
            </a:extLst>
          </p:cNvPr>
          <p:cNvSpPr>
            <a:spLocks xmlns:a="http://schemas.openxmlformats.org/drawingml/2006/main" noGrp="1"/>
          </p:cNvSpPr>
          <p:nvPr/>
        </p:nvSpPr>
        <p:spPr>
          <a:xfrm xmlns:a="http://schemas.openxmlformats.org/drawingml/2006/main">
            <a:off x="6677025" y="3305175"/>
            <a:ext cx="4867275"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EEEEF0"/>
                </a:solidFill>
                <a:latin typeface="Arial"/>
                <a:ea typeface="Arial"/>
                <a:cs typeface="Arial"/>
              </a:defRPr>
            </a:defPPr>
          </a:lstStyle>
          <a:p xmlns:a="http://schemas.openxmlformats.org/drawingml/2006/main">
            <a:pPr>
              <a:defRPr sz="2175" b="0">
                <a:solidFill>
                  <a:srgbClr val="EEEEF0"/>
                </a:solidFill>
                <a:latin typeface="Arial"/>
                <a:ea typeface="Arial"/>
                <a:cs typeface="Arial"/>
              </a:defRPr>
            </a:pPr>
            <a:r>
              <a:rPr sz="2175" b="0">
                <a:solidFill>
                  <a:srgbClr val="EEEEF0"/>
                </a:solidFill>
                <a:latin typeface="Arial"/>
                <a:ea typeface="Arial"/>
                <a:cs typeface="Arial"/>
              </a:rPr>
              <a:t>Events, policies and explanations stay in your stores. Changing an external signal provider does not move that history to a new vendor.</a:t>
            </a:r>
          </a:p>
        </p:txBody>
      </p:sp>
      <p:sp>
        <p:nvSpPr>
          <p:cNvPr id="8" name="">
            <a:extLst xmlns:a="http://schemas.openxmlformats.org/drawingml/2006/main">
              <a:ext uri="{FF2B5EF4-FFF2-40B4-BE49-F238E27FC236}">
                <a16:creationId xmlns:a16="http://schemas.microsoft.com/office/drawing/2014/main" id="{0ACA1DE7-CDAC-40D8-A0BE-8F371EF5C709}"/>
              </a:ext>
            </a:extLst>
          </p:cNvPr>
          <p:cNvSpPr>
            <a:spLocks xmlns:a="http://schemas.openxmlformats.org/drawingml/2006/main" noGrp="1"/>
          </p:cNvSpPr>
          <p:nvPr/>
        </p:nvSpPr>
        <p:spPr>
          <a:xfrm xmlns:a="http://schemas.openxmlformats.org/drawingml/2006/main">
            <a:off x="609600" y="5486400"/>
            <a:ext cx="10801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A5A4FF"/>
                </a:solidFill>
                <a:latin typeface="Arial"/>
                <a:ea typeface="Arial"/>
                <a:cs typeface="Arial"/>
              </a:defRPr>
            </a:defPPr>
          </a:lstStyle>
          <a:p xmlns:a="http://schemas.openxmlformats.org/drawingml/2006/main">
            <a:pPr>
              <a:defRPr sz="1875" b="0">
                <a:solidFill>
                  <a:srgbClr val="A5A4FF"/>
                </a:solidFill>
                <a:latin typeface="Arial"/>
                <a:ea typeface="Arial"/>
                <a:cs typeface="Arial"/>
              </a:defRPr>
            </a:pPr>
            <a:r>
              <a:rPr sz="1875" b="0">
                <a:solidFill>
                  <a:srgbClr val="A5A4FF"/>
                </a:solidFill>
                <a:latin typeface="Arial"/>
                <a:ea typeface="Arial"/>
                <a:cs typeface="Arial"/>
              </a:rPr>
              <a:t>PostgreSQL · configuration     ClickHouse · history     Valkey · realtime state</a:t>
            </a:r>
          </a:p>
        </p:txBody>
      </p:sp>
      <p:sp>
        <p:nvSpPr>
          <p:cNvPr id="9" name="">
            <a:extLst xmlns:a="http://schemas.openxmlformats.org/drawingml/2006/main">
              <a:ext uri="{FF2B5EF4-FFF2-40B4-BE49-F238E27FC236}">
                <a16:creationId xmlns:a16="http://schemas.microsoft.com/office/drawing/2014/main" id="{44BB6379-400D-43E2-99DE-BD1A9618847A}"/>
              </a:ext>
            </a:extLst>
          </p:cNvPr>
          <p:cNvSpPr>
            <a:spLocks xmlns:a="http://schemas.openxmlformats.org/drawingml/2006/main" noGrp="1"/>
          </p:cNvSpPr>
          <p:nvPr/>
        </p:nvSpPr>
        <p:spPr>
          <a:xfrm xmlns:a="http://schemas.openxmlformats.org/drawingml/2006/main">
            <a:off x="609600" y="624840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ABADB6"/>
                </a:solidFill>
                <a:latin typeface="Arial"/>
                <a:ea typeface="Arial"/>
                <a:cs typeface="Arial"/>
              </a:defRPr>
            </a:defPPr>
          </a:lstStyle>
          <a:p xmlns:a="http://schemas.openxmlformats.org/drawingml/2006/main">
            <a:pPr>
              <a:defRPr sz="1350" b="0">
                <a:solidFill>
                  <a:srgbClr val="ABADB6"/>
                </a:solidFill>
                <a:latin typeface="Arial"/>
                <a:ea typeface="Arial"/>
                <a:cs typeface="Arial"/>
              </a:defRPr>
            </a:pPr>
            <a:r>
              <a:rPr sz="1350" b="0">
                <a:solidFill>
                  <a:srgbClr val="ABADB6"/>
                </a:solidFill>
                <a:latin typeface="Arial"/>
                <a:ea typeface="Arial"/>
                <a:cs typeface="Arial"/>
              </a:rPr>
              <a:t>Enabled external providers receive their required request data. Self-hosting does not remove that boundary.</a:t>
            </a:r>
          </a:p>
        </p:txBody>
      </p:sp>
    </p:spTree>
    <p:extLst>
      <p:ext uri="{BB962C8B-B14F-4D97-AF65-F5344CB8AC3E}">
        <p14:creationId xmlns:p14="http://schemas.microsoft.com/office/powerpoint/2010/main" val="1982176190"/>
      </p:ext>
    </p:extLst>
  </p:cSld>
</p:sld>
</file>

<file path=ppt/slides/slide8.xml><?xml version="1.0" encoding="utf-8"?>
<p:sld xmlns:p="http://schemas.openxmlformats.org/presentationml/2006/main">
  <p:cSld>
    <p:bg>
      <p:bgPr>
        <a:solidFill xmlns:a="http://schemas.openxmlformats.org/drawingml/2006/main">
          <a:srgbClr val="10101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C1121C-8E3F-4180-B2A3-8214EB15C088}"/>
              </a:ext>
            </a:extLst>
          </p:cNvPr>
          <p:cNvSpPr>
            <a:spLocks xmlns:a="http://schemas.openxmlformats.org/drawingml/2006/main" noGrp="1"/>
          </p:cNvSpPr>
          <p:nvPr/>
        </p:nvSpPr>
        <p:spPr>
          <a:xfrm xmlns:a="http://schemas.openxmlformats.org/drawingml/2006/main">
            <a:off x="609600" y="4000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EEEEF0"/>
                </a:solidFill>
                <a:latin typeface="Arial"/>
                <a:ea typeface="Arial"/>
                <a:cs typeface="Arial"/>
              </a:defRPr>
            </a:defPPr>
          </a:lstStyle>
          <a:p xmlns:a="http://schemas.openxmlformats.org/drawingml/2006/main">
            <a:pPr>
              <a:defRPr sz="3300" b="1">
                <a:solidFill>
                  <a:srgbClr val="EEEEF0"/>
                </a:solidFill>
                <a:latin typeface="Arial"/>
                <a:ea typeface="Arial"/>
                <a:cs typeface="Arial"/>
              </a:defRPr>
            </a:pPr>
            <a:r>
              <a:rPr sz="3300" b="1">
                <a:solidFill>
                  <a:srgbClr val="EEEEF0"/>
                </a:solidFill>
                <a:latin typeface="Arial"/>
                <a:ea typeface="Arial"/>
                <a:cs typeface="Arial"/>
              </a:rPr>
              <a:t>Choose the evidence your policy uses</a:t>
            </a:r>
          </a:p>
        </p:txBody>
      </p:sp>
      <p:sp>
        <p:nvSpPr>
          <p:cNvPr id="2" name="">
            <a:extLst xmlns:a="http://schemas.openxmlformats.org/drawingml/2006/main">
              <a:ext uri="{FF2B5EF4-FFF2-40B4-BE49-F238E27FC236}">
                <a16:creationId xmlns:a16="http://schemas.microsoft.com/office/drawing/2014/main" id="{321A2D6B-F55E-46EF-A65A-C75DEFDF6D39}"/>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ABADB6"/>
                </a:solidFill>
                <a:latin typeface="Arial"/>
                <a:ea typeface="Arial"/>
                <a:cs typeface="Arial"/>
              </a:defRPr>
            </a:defPPr>
          </a:lstStyle>
          <a:p xmlns:a="http://schemas.openxmlformats.org/drawingml/2006/main">
            <a:pPr>
              <a:defRPr sz="1200" b="0">
                <a:solidFill>
                  <a:srgbClr val="ABADB6"/>
                </a:solidFill>
                <a:latin typeface="Arial"/>
                <a:ea typeface="Arial"/>
                <a:cs typeface="Arial"/>
              </a:defRPr>
            </a:pPr>
            <a:r>
              <a:rPr sz="1200" b="0">
                <a:solidFill>
                  <a:srgbClr val="ABADB6"/>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6AF84EFB-CBB0-4EF5-8E17-96B9D407907B}"/>
              </a:ext>
            </a:extLst>
          </p:cNvPr>
          <p:cNvSpPr>
            <a:spLocks xmlns:a="http://schemas.openxmlformats.org/drawingml/2006/main" noGrp="1"/>
          </p:cNvSpPr>
          <p:nvPr/>
        </p:nvSpPr>
        <p:spPr>
          <a:xfrm xmlns:a="http://schemas.openxmlformats.org/drawingml/2006/main">
            <a:off x="609600" y="1133475"/>
            <a:ext cx="1081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A5A4FF"/>
                </a:solidFill>
                <a:latin typeface="Arial"/>
                <a:ea typeface="Arial"/>
                <a:cs typeface="Arial"/>
              </a:defRPr>
            </a:defPPr>
          </a:lstStyle>
          <a:p xmlns:a="http://schemas.openxmlformats.org/drawingml/2006/main">
            <a:pPr>
              <a:defRPr sz="2250" b="0">
                <a:solidFill>
                  <a:srgbClr val="A5A4FF"/>
                </a:solidFill>
                <a:latin typeface="Arial"/>
                <a:ea typeface="Arial"/>
                <a:cs typeface="Arial"/>
              </a:defRPr>
            </a:pPr>
            <a:r>
              <a:rPr sz="2250" b="0">
                <a:solidFill>
                  <a:srgbClr val="A5A4FF"/>
                </a:solidFill>
                <a:latin typeface="Arial"/>
                <a:ea typeface="Arial"/>
                <a:cs typeface="Arial"/>
              </a:rPr>
              <a:t>Select metrics and thresholds in the policy. Configure their source separately.</a:t>
            </a:r>
          </a:p>
        </p:txBody>
      </p:sp>
      <p:graphicFrame>
        <p:nvGraphicFramePr>
          <p:cNvPr id="4" name="">
            <a:extLst xmlns:a="http://schemas.openxmlformats.org/drawingml/2006/main">
              <a:ext uri="{FF2B5EF4-FFF2-40B4-BE49-F238E27FC236}">
                <a16:creationId xmlns:a16="http://schemas.microsoft.com/office/drawing/2014/main" id="{7452658F-C721-4332-8301-8451CF8A0616}"/>
              </a:ext>
            </a:extLst>
          </p:cNvPr>
          <p:cNvGraphicFramePr/>
          <p:nvPr/>
        </p:nvGraphicFramePr>
        <p:xfrm>
          <a:off xmlns:a="http://schemas.openxmlformats.org/drawingml/2006/main" x="609600" y="2162175"/>
          <a:ext xmlns:a="http://schemas.openxmlformats.org/drawingml/2006/main" cx="10972800" cy="2524125"/>
        </p:xfrm>
        <a:graphic xmlns:a="http://schemas.openxmlformats.org/drawingml/2006/main">
          <a:graphicData uri="http://schemas.openxmlformats.org/drawingml/2006/table">
            <a:tbl>
              <a:tblPr/>
              <a:tblGrid>
                <a:gridCol w="4371975"/>
                <a:gridCol w="6600825"/>
              </a:tblGrid>
              <a:tr h="631031">
                <a:tc>
                  <a:txBody>
                    <a:bodyPr/>
                    <a:lstStyle/>
                    <a:p>
                      <a:r>
                        <a:rPr sz="1875" b="1">
                          <a:solidFill>
                            <a:srgbClr val="ABADB6"/>
                          </a:solidFill>
                          <a:latin typeface="Arial"/>
                          <a:ea typeface="Arial"/>
                          <a:cs typeface="Arial"/>
                        </a:rPr>
                        <a:t>Available now</a:t>
                      </a:r>
                    </a:p>
                  </a:txBody>
                  <a:tcPr marL="91440" marR="91440" marT="45720" marB="45720">
                    <a:solidFill>
                      <a:srgbClr val="101012"/>
                    </a:solidFill>
                  </a:tcPr>
                </a:tc>
                <a:tc>
                  <a:txBody>
                    <a:bodyPr/>
                    <a:lstStyle/>
                    <a:p>
                      <a:r>
                        <a:rPr sz="1875" b="1">
                          <a:solidFill>
                            <a:srgbClr val="ABADB6"/>
                          </a:solidFill>
                          <a:latin typeface="Arial"/>
                          <a:ea typeface="Arial"/>
                          <a:cs typeface="Arial"/>
                        </a:rPr>
                        <a:t>What it contributes</a:t>
                      </a:r>
                    </a:p>
                  </a:txBody>
                  <a:tcPr marL="91440" marR="91440" marT="45720" marB="45720">
                    <a:solidFill>
                      <a:srgbClr val="101012"/>
                    </a:solidFill>
                  </a:tcPr>
                </a:tc>
              </a:tr>
              <a:tr h="631031">
                <a:tc>
                  <a:txBody>
                    <a:bodyPr/>
                    <a:lstStyle/>
                    <a:p>
                      <a:r>
                        <a:rPr sz="1875" b="0">
                          <a:solidFill>
                            <a:srgbClr val="EEEEF0"/>
                          </a:solidFill>
                          <a:latin typeface="Arial"/>
                          <a:ea typeface="Arial"/>
                          <a:cs typeface="Arial"/>
                        </a:rPr>
                        <a:t>Application events + browser SDK</a:t>
                      </a:r>
                    </a:p>
                  </a:txBody>
                  <a:tcPr marL="91440" marR="91440" marT="45720" marB="45720">
                    <a:solidFill>
                      <a:srgbClr val="101012"/>
                    </a:solidFill>
                  </a:tcPr>
                </a:tc>
                <a:tc>
                  <a:txBody>
                    <a:bodyPr/>
                    <a:lstStyle/>
                    <a:p>
                      <a:r>
                        <a:rPr sz="1875" b="0">
                          <a:solidFill>
                            <a:srgbClr val="EEEEF0"/>
                          </a:solidFill>
                          <a:latin typeface="Arial"/>
                          <a:ea typeface="Arial"/>
                          <a:cs typeface="Arial"/>
                        </a:rPr>
                        <a:t>Activity history, relationships and browser evidence</a:t>
                      </a:r>
                    </a:p>
                  </a:txBody>
                  <a:tcPr marL="91440" marR="91440" marT="45720" marB="45720">
                    <a:solidFill>
                      <a:srgbClr val="101012"/>
                    </a:solidFill>
                  </a:tcPr>
                </a:tc>
              </a:tr>
              <a:tr h="631031">
                <a:tc>
                  <a:txBody>
                    <a:bodyPr/>
                    <a:lstStyle/>
                    <a:p>
                      <a:r>
                        <a:rPr sz="1875" b="0">
                          <a:solidFill>
                            <a:srgbClr val="EEEEF0"/>
                          </a:solidFill>
                          <a:latin typeface="Arial"/>
                          <a:ea typeface="Arial"/>
                          <a:cs typeface="Arial"/>
                        </a:rPr>
                        <a:t>proxycheck</a:t>
                      </a:r>
                    </a:p>
                  </a:txBody>
                  <a:tcPr marL="91440" marR="91440" marT="45720" marB="45720">
                    <a:solidFill>
                      <a:srgbClr val="101012"/>
                    </a:solidFill>
                  </a:tcPr>
                </a:tc>
                <a:tc>
                  <a:txBody>
                    <a:bodyPr/>
                    <a:lstStyle/>
                    <a:p>
                      <a:r>
                        <a:rPr sz="1875" b="0">
                          <a:solidFill>
                            <a:srgbClr val="EEEEF0"/>
                          </a:solidFill>
                          <a:latin typeface="Arial"/>
                          <a:ea typeface="Arial"/>
                          <a:cs typeface="Arial"/>
                        </a:rPr>
                        <a:t>IP risk, proxy status and country</a:t>
                      </a:r>
                    </a:p>
                  </a:txBody>
                  <a:tcPr marL="91440" marR="91440" marT="45720" marB="45720">
                    <a:solidFill>
                      <a:srgbClr val="101012"/>
                    </a:solidFill>
                  </a:tcPr>
                </a:tc>
              </a:tr>
              <a:tr h="631031">
                <a:tc>
                  <a:txBody>
                    <a:bodyPr/>
                    <a:lstStyle/>
                    <a:p>
                      <a:r>
                        <a:rPr sz="1875" b="0">
                          <a:solidFill>
                            <a:srgbClr val="EEEEF0"/>
                          </a:solidFill>
                          <a:latin typeface="Arial"/>
                          <a:ea typeface="Arial"/>
                          <a:cs typeface="Arial"/>
                        </a:rPr>
                        <a:t>Cloudflare Turnstile</a:t>
                      </a:r>
                    </a:p>
                  </a:txBody>
                  <a:tcPr marL="91440" marR="91440" marT="45720" marB="45720">
                    <a:solidFill>
                      <a:srgbClr val="101012"/>
                    </a:solidFill>
                  </a:tcPr>
                </a:tc>
                <a:tc>
                  <a:txBody>
                    <a:bodyPr/>
                    <a:lstStyle/>
                    <a:p>
                      <a:r>
                        <a:rPr sz="1875" b="0">
                          <a:solidFill>
                            <a:srgbClr val="EEEEF0"/>
                          </a:solidFill>
                          <a:latin typeface="Arial"/>
                          <a:ea typeface="Arial"/>
                          <a:cs typeface="Arial"/>
                        </a:rPr>
                        <a:t>CAPTCHA verification and continuation</a:t>
                      </a:r>
                    </a:p>
                  </a:txBody>
                  <a:tcPr marL="91440" marR="91440" marT="45720" marB="45720">
                    <a:solidFill>
                      <a:srgbClr val="101012"/>
                    </a:solidFill>
                  </a:tcPr>
                </a:tc>
              </a:tr>
            </a:tbl>
          </a:graphicData>
        </a:graphic>
      </p:graphicFrame>
      <p:sp>
        <p:nvSpPr>
          <p:cNvPr id="5" name="">
            <a:extLst xmlns:a="http://schemas.openxmlformats.org/drawingml/2006/main">
              <a:ext uri="{FF2B5EF4-FFF2-40B4-BE49-F238E27FC236}">
                <a16:creationId xmlns:a16="http://schemas.microsoft.com/office/drawing/2014/main" id="{99378D5B-43DF-4FBD-B0AB-E69E49EDAF09}"/>
              </a:ext>
            </a:extLst>
          </p:cNvPr>
          <p:cNvSpPr>
            <a:spLocks xmlns:a="http://schemas.openxmlformats.org/drawingml/2006/main" noGrp="1"/>
          </p:cNvSpPr>
          <p:nvPr/>
        </p:nvSpPr>
        <p:spPr>
          <a:xfrm xmlns:a="http://schemas.openxmlformats.org/drawingml/2006/main">
            <a:off x="609600" y="5048250"/>
            <a:ext cx="106394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ABADB6"/>
                </a:solidFill>
                <a:latin typeface="Arial"/>
                <a:ea typeface="Arial"/>
                <a:cs typeface="Arial"/>
              </a:defRPr>
            </a:defPPr>
          </a:lstStyle>
          <a:p xmlns:a="http://schemas.openxmlformats.org/drawingml/2006/main">
            <a:pPr>
              <a:defRPr sz="2250" b="0">
                <a:solidFill>
                  <a:srgbClr val="ABADB6"/>
                </a:solidFill>
                <a:latin typeface="Arial"/>
                <a:ea typeface="Arial"/>
                <a:cs typeface="Arial"/>
              </a:defRPr>
            </a:pPr>
            <a:r>
              <a:rPr sz="2250" b="0">
                <a:solidFill>
                  <a:srgbClr val="ABADB6"/>
                </a:solidFill>
                <a:latin typeface="Arial"/>
                <a:ea typeface="Arial"/>
                <a:cs typeface="Arial"/>
              </a:rPr>
              <a:t>Next: more IP and CAPTCHA providers, local data sources, and email or device intelligence.</a:t>
            </a:r>
          </a:p>
        </p:txBody>
      </p:sp>
      <p:sp>
        <p:nvSpPr>
          <p:cNvPr id="6" name="">
            <a:extLst xmlns:a="http://schemas.openxmlformats.org/drawingml/2006/main">
              <a:ext uri="{FF2B5EF4-FFF2-40B4-BE49-F238E27FC236}">
                <a16:creationId xmlns:a16="http://schemas.microsoft.com/office/drawing/2014/main" id="{CC206D28-2D23-4870-B66A-7D2E1ED98864}"/>
              </a:ext>
            </a:extLst>
          </p:cNvPr>
          <p:cNvSpPr>
            <a:spLocks xmlns:a="http://schemas.openxmlformats.org/drawingml/2006/main" noGrp="1"/>
          </p:cNvSpPr>
          <p:nvPr/>
        </p:nvSpPr>
        <p:spPr>
          <a:xfrm xmlns:a="http://schemas.openxmlformats.org/drawingml/2006/main">
            <a:off x="609600" y="624840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ABADB6"/>
                </a:solidFill>
                <a:latin typeface="Arial"/>
                <a:ea typeface="Arial"/>
                <a:cs typeface="Arial"/>
              </a:defRPr>
            </a:defPPr>
          </a:lstStyle>
          <a:p xmlns:a="http://schemas.openxmlformats.org/drawingml/2006/main">
            <a:pPr>
              <a:defRPr sz="1350" b="0">
                <a:solidFill>
                  <a:srgbClr val="ABADB6"/>
                </a:solidFill>
                <a:latin typeface="Arial"/>
                <a:ea typeface="Arial"/>
                <a:cs typeface="Arial"/>
              </a:defRPr>
            </a:pPr>
            <a:r>
              <a:rPr sz="1350" b="0">
                <a:solidFill>
                  <a:srgbClr val="ABADB6"/>
                </a:solidFill>
                <a:latin typeface="Arial"/>
                <a:ea typeface="Arial"/>
                <a:cs typeface="Arial"/>
              </a:rPr>
              <a:t>Provider adapters feed stable metric names such as ip.risk. Current external catalog: two adapters.</a:t>
            </a:r>
          </a:p>
        </p:txBody>
      </p:sp>
    </p:spTree>
    <p:extLst>
      <p:ext uri="{BB962C8B-B14F-4D97-AF65-F5344CB8AC3E}">
        <p14:creationId xmlns:p14="http://schemas.microsoft.com/office/powerpoint/2010/main" val="971588130"/>
      </p:ext>
    </p:extLst>
  </p:cSld>
</p:sld>
</file>

<file path=ppt/slides/slide9.xml><?xml version="1.0" encoding="utf-8"?>
<p:sld xmlns:p="http://schemas.openxmlformats.org/presentationml/2006/main">
  <p:cSld>
    <p:bg>
      <p:bgPr>
        <a:solidFill xmlns:a="http://schemas.openxmlformats.org/drawingml/2006/main">
          <a:srgbClr val="10101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00B032A-19FE-4B9E-B6D3-E810CA29C2BB}"/>
              </a:ext>
            </a:extLst>
          </p:cNvPr>
          <p:cNvSpPr>
            <a:spLocks xmlns:a="http://schemas.openxmlformats.org/drawingml/2006/main" noGrp="1"/>
          </p:cNvSpPr>
          <p:nvPr/>
        </p:nvSpPr>
        <p:spPr>
          <a:xfrm xmlns:a="http://schemas.openxmlformats.org/drawingml/2006/main">
            <a:off x="609600" y="4000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EEEEF0"/>
                </a:solidFill>
                <a:latin typeface="Arial"/>
                <a:ea typeface="Arial"/>
                <a:cs typeface="Arial"/>
              </a:defRPr>
            </a:defPPr>
          </a:lstStyle>
          <a:p xmlns:a="http://schemas.openxmlformats.org/drawingml/2006/main">
            <a:pPr>
              <a:defRPr sz="3300" b="1">
                <a:solidFill>
                  <a:srgbClr val="EEEEF0"/>
                </a:solidFill>
                <a:latin typeface="Arial"/>
                <a:ea typeface="Arial"/>
                <a:cs typeface="Arial"/>
              </a:defRPr>
            </a:pPr>
            <a:r>
              <a:rPr sz="3300" b="1">
                <a:solidFill>
                  <a:srgbClr val="EEEEF0"/>
                </a:solidFill>
                <a:latin typeface="Arial"/>
                <a:ea typeface="Arial"/>
                <a:cs typeface="Arial"/>
              </a:rPr>
              <a:t>A practical product for teams that need control</a:t>
            </a:r>
          </a:p>
        </p:txBody>
      </p:sp>
      <p:sp>
        <p:nvSpPr>
          <p:cNvPr id="2" name="">
            <a:extLst xmlns:a="http://schemas.openxmlformats.org/drawingml/2006/main">
              <a:ext uri="{FF2B5EF4-FFF2-40B4-BE49-F238E27FC236}">
                <a16:creationId xmlns:a16="http://schemas.microsoft.com/office/drawing/2014/main" id="{D81517C4-2F51-431F-9C61-6B32EBD46435}"/>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ABADB6"/>
                </a:solidFill>
                <a:latin typeface="Arial"/>
                <a:ea typeface="Arial"/>
                <a:cs typeface="Arial"/>
              </a:defRPr>
            </a:defPPr>
          </a:lstStyle>
          <a:p xmlns:a="http://schemas.openxmlformats.org/drawingml/2006/main">
            <a:pPr>
              <a:defRPr sz="1200" b="0">
                <a:solidFill>
                  <a:srgbClr val="ABADB6"/>
                </a:solidFill>
                <a:latin typeface="Arial"/>
                <a:ea typeface="Arial"/>
                <a:cs typeface="Arial"/>
              </a:defRPr>
            </a:pPr>
            <a:r>
              <a:rPr sz="1200" b="0">
                <a:solidFill>
                  <a:srgbClr val="ABADB6"/>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363DFDEC-FA10-4294-A7E9-8A73070DDDAD}"/>
              </a:ext>
            </a:extLst>
          </p:cNvPr>
          <p:cNvSpPr>
            <a:spLocks xmlns:a="http://schemas.openxmlformats.org/drawingml/2006/main" noGrp="1"/>
          </p:cNvSpPr>
          <p:nvPr/>
        </p:nvSpPr>
        <p:spPr>
          <a:xfrm xmlns:a="http://schemas.openxmlformats.org/drawingml/2006/main">
            <a:off x="609600" y="146685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A5A4FF"/>
                </a:solidFill>
                <a:latin typeface="Arial"/>
                <a:ea typeface="Arial"/>
                <a:cs typeface="Arial"/>
              </a:defRPr>
            </a:defPPr>
          </a:lstStyle>
          <a:p xmlns:a="http://schemas.openxmlformats.org/drawingml/2006/main">
            <a:pPr>
              <a:defRPr sz="2325" b="1">
                <a:solidFill>
                  <a:srgbClr val="A5A4FF"/>
                </a:solidFill>
                <a:latin typeface="Arial"/>
                <a:ea typeface="Arial"/>
                <a:cs typeface="Arial"/>
              </a:defRPr>
            </a:pPr>
            <a:r>
              <a:rPr sz="2325" b="1">
                <a:solidFill>
                  <a:srgbClr val="A5A4FF"/>
                </a:solidFill>
                <a:latin typeface="Arial"/>
                <a:ea typeface="Arial"/>
                <a:cs typeface="Arial"/>
              </a:rPr>
              <a:t>Start with one application</a:t>
            </a:r>
          </a:p>
        </p:txBody>
      </p:sp>
      <p:sp>
        <p:nvSpPr>
          <p:cNvPr id="4" name="">
            <a:extLst xmlns:a="http://schemas.openxmlformats.org/drawingml/2006/main">
              <a:ext uri="{FF2B5EF4-FFF2-40B4-BE49-F238E27FC236}">
                <a16:creationId xmlns:a16="http://schemas.microsoft.com/office/drawing/2014/main" id="{406D8A80-CD3E-44E6-92A8-6B5C20AE6B8C}"/>
              </a:ext>
            </a:extLst>
          </p:cNvPr>
          <p:cNvSpPr>
            <a:spLocks xmlns:a="http://schemas.openxmlformats.org/drawingml/2006/main" noGrp="1"/>
          </p:cNvSpPr>
          <p:nvPr/>
        </p:nvSpPr>
        <p:spPr>
          <a:xfrm xmlns:a="http://schemas.openxmlformats.org/drawingml/2006/main">
            <a:off x="609600" y="2152650"/>
            <a:ext cx="51244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EEEEF0"/>
                </a:solidFill>
                <a:latin typeface="Arial"/>
                <a:ea typeface="Arial"/>
                <a:cs typeface="Arial"/>
              </a:defRPr>
            </a:defPPr>
          </a:lstStyle>
          <a:p xmlns:a="http://schemas.openxmlformats.org/drawingml/2006/main">
            <a:pPr>
              <a:defRPr sz="2175" b="0">
                <a:solidFill>
                  <a:srgbClr val="EEEEF0"/>
                </a:solidFill>
                <a:latin typeface="Arial"/>
                <a:ea typeface="Arial"/>
                <a:cs typeface="Arial"/>
              </a:defRPr>
            </a:pPr>
            <a:r>
              <a:rPr sz="2175" b="0">
                <a:solidFill>
                  <a:srgbClr val="EEEEF0"/>
                </a:solidFill>
                <a:latin typeface="Arial"/>
                <a:ea typeface="Arial"/>
                <a:cs typeface="Arial"/>
              </a:rPr>
              <a:t>A reporting portal, SaaS trial or marketplace submission flow that needs its own decision rules and control of sensitive evidence.</a:t>
            </a:r>
          </a:p>
        </p:txBody>
      </p:sp>
      <p:sp>
        <p:nvSpPr>
          <p:cNvPr id="5" name="">
            <a:extLst xmlns:a="http://schemas.openxmlformats.org/drawingml/2006/main">
              <a:ext uri="{FF2B5EF4-FFF2-40B4-BE49-F238E27FC236}">
                <a16:creationId xmlns:a16="http://schemas.microsoft.com/office/drawing/2014/main" id="{54BF4EBA-5A98-4768-8EE9-5C3198A0F72A}"/>
              </a:ext>
            </a:extLst>
          </p:cNvPr>
          <p:cNvSpPr>
            <a:spLocks xmlns:a="http://schemas.openxmlformats.org/drawingml/2006/main" noGrp="1"/>
          </p:cNvSpPr>
          <p:nvPr/>
        </p:nvSpPr>
        <p:spPr>
          <a:xfrm xmlns:a="http://schemas.openxmlformats.org/drawingml/2006/main">
            <a:off x="6705600" y="14668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A5A4FF"/>
                </a:solidFill>
                <a:latin typeface="Arial"/>
                <a:ea typeface="Arial"/>
                <a:cs typeface="Arial"/>
              </a:defRPr>
            </a:defPPr>
          </a:lstStyle>
          <a:p xmlns:a="http://schemas.openxmlformats.org/drawingml/2006/main">
            <a:pPr>
              <a:defRPr sz="2325" b="1">
                <a:solidFill>
                  <a:srgbClr val="A5A4FF"/>
                </a:solidFill>
                <a:latin typeface="Arial"/>
                <a:ea typeface="Arial"/>
                <a:cs typeface="Arial"/>
              </a:defRPr>
            </a:pPr>
            <a:r>
              <a:rPr sz="2325" b="1">
                <a:solidFill>
                  <a:srgbClr val="A5A4FF"/>
                </a:solidFill>
                <a:latin typeface="Arial"/>
                <a:ea typeface="Arial"/>
                <a:cs typeface="Arial"/>
              </a:rPr>
              <a:t>Commercial value</a:t>
            </a:r>
          </a:p>
        </p:txBody>
      </p:sp>
      <p:sp>
        <p:nvSpPr>
          <p:cNvPr id="6" name="">
            <a:extLst xmlns:a="http://schemas.openxmlformats.org/drawingml/2006/main">
              <a:ext uri="{FF2B5EF4-FFF2-40B4-BE49-F238E27FC236}">
                <a16:creationId xmlns:a16="http://schemas.microsoft.com/office/drawing/2014/main" id="{0DCE732B-5EC5-42A7-81A2-A9E18F152E9E}"/>
              </a:ext>
            </a:extLst>
          </p:cNvPr>
          <p:cNvSpPr>
            <a:spLocks xmlns:a="http://schemas.openxmlformats.org/drawingml/2006/main" noGrp="1"/>
          </p:cNvSpPr>
          <p:nvPr/>
        </p:nvSpPr>
        <p:spPr>
          <a:xfrm xmlns:a="http://schemas.openxmlformats.org/drawingml/2006/main">
            <a:off x="6705600" y="2152650"/>
            <a:ext cx="48577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EEEEF0"/>
                </a:solidFill>
                <a:latin typeface="Arial"/>
                <a:ea typeface="Arial"/>
                <a:cs typeface="Arial"/>
              </a:defRPr>
            </a:defPPr>
          </a:lstStyle>
          <a:p xmlns:a="http://schemas.openxmlformats.org/drawingml/2006/main">
            <a:pPr>
              <a:defRPr sz="2100" b="0">
                <a:solidFill>
                  <a:srgbClr val="EEEEF0"/>
                </a:solidFill>
                <a:latin typeface="Arial"/>
                <a:ea typeface="Arial"/>
                <a:cs typeface="Arial"/>
              </a:defRPr>
            </a:pPr>
            <a:r>
              <a:rPr sz="2100" b="0">
                <a:solidFill>
                  <a:srgbClr val="EEEEF0"/>
                </a:solidFill>
                <a:latin typeface="Arial"/>
                <a:ea typeface="Arial"/>
                <a:cs typeface="Arial"/>
              </a:rPr>
              <a:t>Build the provider integration once.</a:t>
            </a:r>
          </a:p>
          <a:p xmlns:a="http://schemas.openxmlformats.org/drawingml/2006/main">
            <a:pPr>
              <a:defRPr sz="2100" b="0">
                <a:solidFill>
                  <a:srgbClr val="EEEEF0"/>
                </a:solidFill>
                <a:latin typeface="Arial"/>
                <a:ea typeface="Arial"/>
                <a:cs typeface="Arial"/>
              </a:defRPr>
            </a:pPr>
            <a:r>
              <a:rPr sz="2100" b="0">
                <a:solidFill>
                  <a:srgbClr val="EEEEF0"/>
                </a:solidFill>
                <a:latin typeface="Arial"/>
                <a:ea typeface="Arial"/>
                <a:cs typeface="Arial"/>
              </a:rPr>
              <a:t>Reuse policy tools across actions.</a:t>
            </a:r>
          </a:p>
          <a:p xmlns:a="http://schemas.openxmlformats.org/drawingml/2006/main">
            <a:pPr>
              <a:defRPr sz="2100" b="0">
                <a:solidFill>
                  <a:srgbClr val="EEEEF0"/>
                </a:solidFill>
                <a:latin typeface="Arial"/>
                <a:ea typeface="Arial"/>
                <a:cs typeface="Arial"/>
              </a:defRPr>
            </a:pPr>
            <a:r>
              <a:rPr sz="2100" b="0">
                <a:solidFill>
                  <a:srgbClr val="EEEEF0"/>
                </a:solidFill>
                <a:latin typeface="Arial"/>
                <a:ea typeface="Arial"/>
                <a:cs typeface="Arial"/>
              </a:rPr>
              <a:t>Keep history when vendors change.</a:t>
            </a:r>
          </a:p>
          <a:p xmlns:a="http://schemas.openxmlformats.org/drawingml/2006/main">
            <a:pPr>
              <a:defRPr sz="2100" b="0">
                <a:solidFill>
                  <a:srgbClr val="EEEEF0"/>
                </a:solidFill>
                <a:latin typeface="Arial"/>
                <a:ea typeface="Arial"/>
                <a:cs typeface="Arial"/>
              </a:defRPr>
            </a:pPr>
            <a:r>
              <a:rPr sz="2100" b="0">
                <a:solidFill>
                  <a:srgbClr val="EEEEF0"/>
                </a:solidFill>
                <a:latin typeface="Arial"/>
                <a:ea typeface="Arial"/>
                <a:cs typeface="Arial"/>
              </a:rPr>
              <a:t>Investigate from recorded evidence.</a:t>
            </a:r>
          </a:p>
        </p:txBody>
      </p:sp>
      <p:sp>
        <p:nvSpPr>
          <p:cNvPr id="7" name="">
            <a:extLst xmlns:a="http://schemas.openxmlformats.org/drawingml/2006/main">
              <a:ext uri="{FF2B5EF4-FFF2-40B4-BE49-F238E27FC236}">
                <a16:creationId xmlns:a16="http://schemas.microsoft.com/office/drawing/2014/main" id="{BB82404B-2A72-4F77-BBD8-7C72A3733628}"/>
              </a:ext>
            </a:extLst>
          </p:cNvPr>
          <p:cNvSpPr>
            <a:spLocks xmlns:a="http://schemas.openxmlformats.org/drawingml/2006/main" noGrp="1"/>
          </p:cNvSpPr>
          <p:nvPr/>
        </p:nvSpPr>
        <p:spPr>
          <a:xfrm xmlns:a="http://schemas.openxmlformats.org/drawingml/2006/main">
            <a:off x="609600" y="4410075"/>
            <a:ext cx="5076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EEEF0"/>
                </a:solidFill>
                <a:latin typeface="Arial"/>
                <a:ea typeface="Arial"/>
                <a:cs typeface="Arial"/>
              </a:defRPr>
            </a:defPPr>
          </a:lstStyle>
          <a:p xmlns:a="http://schemas.openxmlformats.org/drawingml/2006/main">
            <a:pPr>
              <a:defRPr sz="2100" b="1">
                <a:solidFill>
                  <a:srgbClr val="EEEEF0"/>
                </a:solidFill>
                <a:latin typeface="Arial"/>
                <a:ea typeface="Arial"/>
                <a:cs typeface="Arial"/>
              </a:defRPr>
            </a:pPr>
            <a:r>
              <a:rPr sz="2100" b="1">
                <a:solidFill>
                  <a:srgbClr val="EEEEF0"/>
                </a:solidFill>
                <a:latin typeface="Arial"/>
                <a:ea typeface="Arial"/>
                <a:cs typeface="Arial"/>
              </a:rPr>
              <a:t>Proposed revenue</a:t>
            </a:r>
          </a:p>
        </p:txBody>
      </p:sp>
      <p:sp>
        <p:nvSpPr>
          <p:cNvPr id="8" name="">
            <a:extLst xmlns:a="http://schemas.openxmlformats.org/drawingml/2006/main">
              <a:ext uri="{FF2B5EF4-FFF2-40B4-BE49-F238E27FC236}">
                <a16:creationId xmlns:a16="http://schemas.microsoft.com/office/drawing/2014/main" id="{F36C9381-AC16-4EBE-B4A0-EC1ACCEEBF66}"/>
              </a:ext>
            </a:extLst>
          </p:cNvPr>
          <p:cNvSpPr>
            <a:spLocks xmlns:a="http://schemas.openxmlformats.org/drawingml/2006/main" noGrp="1"/>
          </p:cNvSpPr>
          <p:nvPr/>
        </p:nvSpPr>
        <p:spPr>
          <a:xfrm xmlns:a="http://schemas.openxmlformats.org/drawingml/2006/main">
            <a:off x="609600" y="4981575"/>
            <a:ext cx="51625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ABADB6"/>
                </a:solidFill>
                <a:latin typeface="Arial"/>
                <a:ea typeface="Arial"/>
                <a:cs typeface="Arial"/>
              </a:defRPr>
            </a:defPPr>
          </a:lstStyle>
          <a:p xmlns:a="http://schemas.openxmlformats.org/drawingml/2006/main">
            <a:pPr>
              <a:defRPr sz="1950" b="0">
                <a:solidFill>
                  <a:srgbClr val="ABADB6"/>
                </a:solidFill>
                <a:latin typeface="Arial"/>
                <a:ea typeface="Arial"/>
                <a:cs typeface="Arial"/>
              </a:defRPr>
            </a:pPr>
            <a:r>
              <a:rPr sz="1950" b="0">
                <a:solidFill>
                  <a:srgbClr val="ABADB6"/>
                </a:solidFill>
                <a:latin typeface="Arial"/>
                <a:ea typeface="Arial"/>
                <a:cs typeface="Arial"/>
              </a:rPr>
              <a:t>Deployment, support and maintained</a:t>
            </a:r>
          </a:p>
          <a:p xmlns:a="http://schemas.openxmlformats.org/drawingml/2006/main">
            <a:pPr>
              <a:defRPr sz="1950" b="0">
                <a:solidFill>
                  <a:srgbClr val="ABADB6"/>
                </a:solidFill>
                <a:latin typeface="Arial"/>
                <a:ea typeface="Arial"/>
                <a:cs typeface="Arial"/>
              </a:defRPr>
            </a:pPr>
            <a:r>
              <a:rPr sz="1950" b="0">
                <a:solidFill>
                  <a:srgbClr val="ABADB6"/>
                </a:solidFill>
                <a:latin typeface="Arial"/>
                <a:ea typeface="Arial"/>
                <a:cs typeface="Arial"/>
              </a:rPr>
              <a:t>integrations around an open-source core.</a:t>
            </a:r>
          </a:p>
        </p:txBody>
      </p:sp>
      <p:sp>
        <p:nvSpPr>
          <p:cNvPr id="9" name="">
            <a:extLst xmlns:a="http://schemas.openxmlformats.org/drawingml/2006/main">
              <a:ext uri="{FF2B5EF4-FFF2-40B4-BE49-F238E27FC236}">
                <a16:creationId xmlns:a16="http://schemas.microsoft.com/office/drawing/2014/main" id="{7E7E0303-D952-4CE9-8001-7B011B1EBAF8}"/>
              </a:ext>
            </a:extLst>
          </p:cNvPr>
          <p:cNvSpPr>
            <a:spLocks xmlns:a="http://schemas.openxmlformats.org/drawingml/2006/main" noGrp="1"/>
          </p:cNvSpPr>
          <p:nvPr/>
        </p:nvSpPr>
        <p:spPr>
          <a:xfrm xmlns:a="http://schemas.openxmlformats.org/drawingml/2006/main">
            <a:off x="6705600" y="4410075"/>
            <a:ext cx="48672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EEEF0"/>
                </a:solidFill>
                <a:latin typeface="Arial"/>
                <a:ea typeface="Arial"/>
                <a:cs typeface="Arial"/>
              </a:defRPr>
            </a:defPPr>
          </a:lstStyle>
          <a:p xmlns:a="http://schemas.openxmlformats.org/drawingml/2006/main">
            <a:pPr>
              <a:defRPr sz="2100" b="1">
                <a:solidFill>
                  <a:srgbClr val="EEEEF0"/>
                </a:solidFill>
                <a:latin typeface="Arial"/>
                <a:ea typeface="Arial"/>
                <a:cs typeface="Arial"/>
              </a:defRPr>
            </a:pPr>
            <a:r>
              <a:rPr sz="2100" b="1">
                <a:solidFill>
                  <a:srgbClr val="EEEEF0"/>
                </a:solidFill>
                <a:latin typeface="Arial"/>
                <a:ea typeface="Arial"/>
                <a:cs typeface="Arial"/>
              </a:rPr>
              <a:t>Next: a measured customer pilot</a:t>
            </a:r>
          </a:p>
        </p:txBody>
      </p:sp>
      <p:sp>
        <p:nvSpPr>
          <p:cNvPr id="10" name="">
            <a:extLst xmlns:a="http://schemas.openxmlformats.org/drawingml/2006/main">
              <a:ext uri="{FF2B5EF4-FFF2-40B4-BE49-F238E27FC236}">
                <a16:creationId xmlns:a16="http://schemas.microsoft.com/office/drawing/2014/main" id="{4E153982-F638-4487-A6D7-8D25F8C08CC1}"/>
              </a:ext>
            </a:extLst>
          </p:cNvPr>
          <p:cNvSpPr>
            <a:spLocks xmlns:a="http://schemas.openxmlformats.org/drawingml/2006/main" noGrp="1"/>
          </p:cNvSpPr>
          <p:nvPr/>
        </p:nvSpPr>
        <p:spPr>
          <a:xfrm xmlns:a="http://schemas.openxmlformats.org/drawingml/2006/main">
            <a:off x="6705600" y="4981575"/>
            <a:ext cx="48672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ABADB6"/>
                </a:solidFill>
                <a:latin typeface="Arial"/>
                <a:ea typeface="Arial"/>
                <a:cs typeface="Arial"/>
              </a:defRPr>
            </a:defPPr>
          </a:lstStyle>
          <a:p xmlns:a="http://schemas.openxmlformats.org/drawingml/2006/main">
            <a:pPr>
              <a:defRPr sz="1950" b="0">
                <a:solidFill>
                  <a:srgbClr val="ABADB6"/>
                </a:solidFill>
                <a:latin typeface="Arial"/>
                <a:ea typeface="Arial"/>
                <a:cs typeface="Arial"/>
              </a:defRPr>
            </a:pPr>
            <a:r>
              <a:rPr sz="1950" b="0">
                <a:solidFill>
                  <a:srgbClr val="ABADB6"/>
                </a:solidFill>
                <a:latin typeface="Arial"/>
                <a:ea typeface="Arial"/>
                <a:cs typeface="Arial"/>
              </a:rPr>
              <a:t>Connect live providers; measure setup</a:t>
            </a:r>
          </a:p>
          <a:p xmlns:a="http://schemas.openxmlformats.org/drawingml/2006/main">
            <a:pPr>
              <a:defRPr sz="1950" b="0">
                <a:solidFill>
                  <a:srgbClr val="ABADB6"/>
                </a:solidFill>
                <a:latin typeface="Arial"/>
                <a:ea typeface="Arial"/>
                <a:cs typeface="Arial"/>
              </a:defRPr>
            </a:pPr>
            <a:r>
              <a:rPr sz="1950" b="0">
                <a:solidFill>
                  <a:srgbClr val="ABADB6"/>
                </a:solidFill>
                <a:latin typeface="Arial"/>
                <a:ea typeface="Arial"/>
                <a:cs typeface="Arial"/>
              </a:rPr>
              <a:t>effort, false denials and investigation time.</a:t>
            </a:r>
          </a:p>
        </p:txBody>
      </p:sp>
      <p:sp>
        <p:nvSpPr>
          <p:cNvPr id="11" name="">
            <a:extLst xmlns:a="http://schemas.openxmlformats.org/drawingml/2006/main">
              <a:ext uri="{FF2B5EF4-FFF2-40B4-BE49-F238E27FC236}">
                <a16:creationId xmlns:a16="http://schemas.microsoft.com/office/drawing/2014/main" id="{314B9319-4045-49E7-A315-2848F5161E4A}"/>
              </a:ext>
            </a:extLst>
          </p:cNvPr>
          <p:cNvSpPr>
            <a:spLocks xmlns:a="http://schemas.openxmlformats.org/drawingml/2006/main" noGrp="1"/>
          </p:cNvSpPr>
          <p:nvPr/>
        </p:nvSpPr>
        <p:spPr>
          <a:xfrm xmlns:a="http://schemas.openxmlformats.org/drawingml/2006/main">
            <a:off x="609600" y="62293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A5A4FF"/>
                </a:solidFill>
                <a:latin typeface="Arial"/>
                <a:ea typeface="Arial"/>
                <a:cs typeface="Arial"/>
              </a:defRPr>
            </a:defPPr>
          </a:lstStyle>
          <a:p xmlns:a="http://schemas.openxmlformats.org/drawingml/2006/main">
            <a:pPr>
              <a:defRPr sz="1725" b="0">
                <a:solidFill>
                  <a:srgbClr val="A5A4FF"/>
                </a:solidFill>
                <a:latin typeface="Arial"/>
                <a:ea typeface="Arial"/>
                <a:cs typeface="Arial"/>
              </a:defRPr>
            </a:pPr>
            <a:r>
              <a:rPr sz="1725" b="0">
                <a:solidFill>
                  <a:srgbClr val="A5A4FF"/>
                </a:solidFill>
                <a:latin typeface="Arial"/>
                <a:ea typeface="Arial"/>
                <a:cs typeface="Arial"/>
              </a:rPr>
              <a:t>Repository: github.com/localhost2137/krine</a:t>
            </a:r>
          </a:p>
        </p:txBody>
      </p:sp>
    </p:spTree>
    <p:extLst>
      <p:ext uri="{BB962C8B-B14F-4D97-AF65-F5344CB8AC3E}">
        <p14:creationId xmlns:p14="http://schemas.microsoft.com/office/powerpoint/2010/main" val="5937282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2026-10-04T07:31:11.3090000Z</dcterms:created>
  <dcterms:modified xsi:type="dcterms:W3CDTF">2026-10-04T07:31:11.3090000Z</dcterms:modified>
</coreProperties>
</file>